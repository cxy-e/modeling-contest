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A5F"/>
    <a:srgbClr val="E2E8F0"/>
    <a:srgbClr val="EB8046"/>
    <a:srgbClr val="000000"/>
    <a:srgbClr val="346DB2"/>
    <a:srgbClr val="3167A9"/>
    <a:srgbClr val="214571"/>
    <a:srgbClr val="183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45643-038F-29D6-729B-493B222D5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87C4F-7BDD-75D2-7329-259860A36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52B53-2C81-5250-EACA-0F9D92CA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2BA4B-70A7-895D-CD9C-DE67B219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EE4BCA-5EFD-AB1D-1449-9579F039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7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D1880-7D05-A097-37E2-43B3C33B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B7DA3-1844-85E6-E6DF-4B499797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1B6A2-7C78-FD63-986C-5C619BBA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28A414-71DE-1629-F73E-08A3E646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AEB77-6511-1379-AC91-468ECB14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1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EF6BB-A02E-84DF-199A-B12C1BC9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1733C3-F243-ECBE-3EC5-72B11FCAD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9BAD01-40E0-67E4-2E2D-2B9EB49C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493771-2AA8-87E4-C57C-63D977DF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28B8E-DAA3-7D7B-8D81-77296D32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00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8808F-5C60-3C95-0315-BF20C115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B75DF-247C-56D0-4FD7-385D54442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9E9B01-81F6-C6E8-0198-3A225A9FB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C70C52-8F33-D6D3-3C3F-13EF9805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18E24-FF04-67CB-42B7-A9C3E508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E42FF3-8CFD-30B4-BD85-890EA2B2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63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CBDCD-A6B0-8833-FB2E-F4EEE8903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5B4288-F6B2-65B1-96E7-6F11194A0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A7D07B-D1DB-A250-A611-261FC8097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FAE7F3-CD77-7064-2DA1-C9E3A68DC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06640A-DBA6-E81F-2526-59E24F1F7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59C3EC-B647-E220-F836-D3B53249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DEB514-2FFE-9307-FEC2-6D5A193D3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6088EF-0AEC-4458-E77C-56F6BB4B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9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9BC48-580E-65C2-7647-A37EE7F3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2CE703-8EE2-3A9A-A37C-22DA75D50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629EA5-6D87-E905-8DBC-365FE0CB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D08832-0221-AD9C-8C66-AB516E55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6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6A94A5-30F8-1AF1-93E7-5B2734C6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6DE001-A703-31B7-BA9A-E0524950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659754-AADB-9153-A343-4944E152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96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EAF37-E407-8134-D0DD-3F979337D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487D2-E1F3-9750-455A-284CDE66A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B754F4-7410-B73E-103F-6AC083F3A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2E0111-EFCE-1C7E-6E0F-F131D053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213672-2A93-F735-F0D2-5CCC8B44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F2EF0A-97E6-6D92-CC2B-70B77857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94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9E697-69CB-F33C-B23F-FEC4E7C3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EE217A-45EA-7E06-03C6-952071825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C1FC9C-55A2-86F0-F690-A5AAD6774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323BB7-95B2-E05B-677F-9F37FC01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2E4061-6B8C-AFA1-BB80-34CD7007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CD9FB-E6FA-2723-AC9D-B289B35D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6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B9A3B-294A-7E8E-0273-295F3FF5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B5AC57-1A66-09E9-3459-1F2CE2970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81FCD-457D-C09B-4261-94FB6C07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64995F-95E6-166B-A190-82C2A7543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1F42E-E667-2262-82DF-7FD066DE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91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F34292-DDDD-13D7-37FA-B52CDFC4D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4DBAA4-9CCC-8633-AB65-5934CC6AE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B91337-30AC-802A-8125-443BAE50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3BCE0-BA97-4E79-5F75-D8FC6958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743E6-B259-521C-A9CC-21E558F4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94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343A74-4D48-5B52-8D4A-D803FEB0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1DE4FA-EAD6-EFC8-5E1C-69F54A6E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F0A149-0A5D-6177-043C-7788F55A9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596D4-D52C-4D9E-B383-2681C141EE4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DA3943-A3C9-ECA0-E7ED-A86DE3ED5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FA305A-1114-4BDC-8940-0499E3303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0ED14-9256-4590-AA6F-ED80B1C5E7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61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57A23-D95E-AFC6-62B2-235F96776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2D4728-BD44-D502-38C7-D55B14FD4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3E4FB0-A273-FBB0-6A6E-8BB10F7036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rgbClr val="1E3A5F"/>
              </a:gs>
              <a:gs pos="50000">
                <a:srgbClr val="162F4F"/>
              </a:gs>
              <a:gs pos="100000">
                <a:srgbClr val="0F2440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320572D-A0A5-DAC1-7953-9F951A35843E}"/>
              </a:ext>
            </a:extLst>
          </p:cNvPr>
          <p:cNvSpPr/>
          <p:nvPr/>
        </p:nvSpPr>
        <p:spPr>
          <a:xfrm>
            <a:off x="571500" y="1102621"/>
            <a:ext cx="952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733A"/>
              </a:gs>
              <a:gs pos="50000">
                <a:srgbClr val="EE8D52"/>
              </a:gs>
              <a:gs pos="100000">
                <a:srgbClr val="F5A86A"/>
              </a:gs>
            </a:gsLst>
            <a:lin ang="0" scaled="1"/>
          </a:gradFill>
          <a:ln w="9525" cap="flat">
            <a:noFill/>
            <a:prstDash val="solid"/>
            <a:miter/>
          </a:ln>
        </p:spPr>
      </p:sp>
      <p:grpSp>
        <p:nvGrpSpPr>
          <p:cNvPr id="20" name="图形 4">
            <a:extLst>
              <a:ext uri="{FF2B5EF4-FFF2-40B4-BE49-F238E27FC236}">
                <a16:creationId xmlns:a16="http://schemas.microsoft.com/office/drawing/2014/main" id="{00666F3B-3DEE-6C17-EE70-048D60E68004}"/>
              </a:ext>
            </a:extLst>
          </p:cNvPr>
          <p:cNvGrpSpPr/>
          <p:nvPr/>
        </p:nvGrpSpPr>
        <p:grpSpPr>
          <a:xfrm>
            <a:off x="571500" y="1684157"/>
            <a:ext cx="4683416" cy="1294460"/>
            <a:chOff x="571500" y="1684157"/>
            <a:chExt cx="4683416" cy="1294460"/>
          </a:xfrm>
          <a:solidFill>
            <a:srgbClr val="FFFFFF"/>
          </a:solidFill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FE7DB5E-51DA-32AD-3944-E37E9D8D7609}"/>
                </a:ext>
              </a:extLst>
            </p:cNvPr>
            <p:cNvSpPr txBox="1"/>
            <p:nvPr/>
          </p:nvSpPr>
          <p:spPr>
            <a:xfrm>
              <a:off x="480060" y="1638437"/>
              <a:ext cx="4583597" cy="7191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4350" b="1" spc="0" baseline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Optimized UAV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0FF29C7-4A3C-4B15-4DA1-A96BF8EFAF15}"/>
                </a:ext>
              </a:extLst>
            </p:cNvPr>
            <p:cNvSpPr txBox="1"/>
            <p:nvPr/>
          </p:nvSpPr>
          <p:spPr>
            <a:xfrm>
              <a:off x="480060" y="2305187"/>
              <a:ext cx="4866296" cy="7191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4350" b="1" spc="0" baseline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Service Network</a:t>
              </a:r>
            </a:p>
          </p:txBody>
        </p:sp>
      </p:grpSp>
      <p:grpSp>
        <p:nvGrpSpPr>
          <p:cNvPr id="23" name="图形 4">
            <a:extLst>
              <a:ext uri="{FF2B5EF4-FFF2-40B4-BE49-F238E27FC236}">
                <a16:creationId xmlns:a16="http://schemas.microsoft.com/office/drawing/2014/main" id="{074CC984-9414-491F-FB63-432DAA499354}"/>
              </a:ext>
            </a:extLst>
          </p:cNvPr>
          <p:cNvGrpSpPr/>
          <p:nvPr/>
        </p:nvGrpSpPr>
        <p:grpSpPr>
          <a:xfrm>
            <a:off x="571500" y="3334549"/>
            <a:ext cx="4611430" cy="538906"/>
            <a:chOff x="571500" y="3334549"/>
            <a:chExt cx="4611430" cy="538906"/>
          </a:xfrm>
          <a:solidFill>
            <a:srgbClr val="94A3B8"/>
          </a:solidFill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49C2713-2858-BA5D-7632-0FEFCE3A6379}"/>
                </a:ext>
              </a:extLst>
            </p:cNvPr>
            <p:cNvSpPr txBox="1"/>
            <p:nvPr/>
          </p:nvSpPr>
          <p:spPr>
            <a:xfrm>
              <a:off x="480060" y="3288829"/>
              <a:ext cx="4794310" cy="325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50" spc="0" baseline="0">
                  <a:ln/>
                  <a:solidFill>
                    <a:srgbClr val="94A3B8"/>
                  </a:solidFill>
                  <a:latin typeface="Arial"/>
                  <a:cs typeface="Arial"/>
                  <a:sym typeface="Arial"/>
                  <a:rtl val="0"/>
                </a:rPr>
                <a:t>A Full-Process Optimization Framework for Urban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E72DB92-45F8-3F78-4FCF-8C0E8A2F88C2}"/>
                </a:ext>
              </a:extLst>
            </p:cNvPr>
            <p:cNvSpPr txBox="1"/>
            <p:nvPr/>
          </p:nvSpPr>
          <p:spPr>
            <a:xfrm>
              <a:off x="480060" y="3593629"/>
              <a:ext cx="4022208" cy="325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50" spc="0" baseline="0">
                  <a:ln/>
                  <a:solidFill>
                    <a:srgbClr val="94A3B8"/>
                  </a:solidFill>
                  <a:latin typeface="Arial"/>
                  <a:cs typeface="Arial"/>
                  <a:sym typeface="Arial"/>
                  <a:rtl val="0"/>
                </a:rPr>
                <a:t>Low-Altitude UAV Networks in Megacities</a:t>
              </a:r>
            </a:p>
          </p:txBody>
        </p:sp>
      </p:grpSp>
      <p:grpSp>
        <p:nvGrpSpPr>
          <p:cNvPr id="26" name="图形 4">
            <a:extLst>
              <a:ext uri="{FF2B5EF4-FFF2-40B4-BE49-F238E27FC236}">
                <a16:creationId xmlns:a16="http://schemas.microsoft.com/office/drawing/2014/main" id="{84D3BE19-FF04-EB84-698E-D273B83255BD}"/>
              </a:ext>
            </a:extLst>
          </p:cNvPr>
          <p:cNvGrpSpPr/>
          <p:nvPr/>
        </p:nvGrpSpPr>
        <p:grpSpPr>
          <a:xfrm>
            <a:off x="571500" y="4191000"/>
            <a:ext cx="4434678" cy="703082"/>
            <a:chOff x="571500" y="4191000"/>
            <a:chExt cx="4434678" cy="70308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E3E13C5-4E34-4566-2A5C-CB1F7F7CECEC}"/>
                </a:ext>
              </a:extLst>
            </p:cNvPr>
            <p:cNvSpPr/>
            <p:nvPr/>
          </p:nvSpPr>
          <p:spPr>
            <a:xfrm>
              <a:off x="571500" y="4191000"/>
              <a:ext cx="2476500" cy="9525"/>
            </a:xfrm>
            <a:prstGeom prst="rect">
              <a:avLst/>
            </a:prstGeom>
            <a:solidFill>
              <a:srgbClr val="3B82C4">
                <a:alpha val="50000"/>
              </a:srgbClr>
            </a:solidFill>
            <a:ln w="9525" cap="flat">
              <a:noFill/>
              <a:prstDash val="solid"/>
              <a:miter/>
            </a:ln>
          </p:spPr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4CEA5B9-CB42-B5C3-F3E5-1E188C82E4AA}"/>
                </a:ext>
              </a:extLst>
            </p:cNvPr>
            <p:cNvSpPr txBox="1"/>
            <p:nvPr/>
          </p:nvSpPr>
          <p:spPr>
            <a:xfrm>
              <a:off x="480060" y="4435941"/>
              <a:ext cx="970701" cy="261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E8733A"/>
                  </a:solidFill>
                  <a:latin typeface="Arial"/>
                  <a:cs typeface="Arial"/>
                  <a:sym typeface="Arial"/>
                  <a:rtl val="0"/>
                </a:rPr>
                <a:t>Case Study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998A025-C8F2-F291-498B-D84B75B25574}"/>
                </a:ext>
              </a:extLst>
            </p:cNvPr>
            <p:cNvSpPr txBox="1"/>
            <p:nvPr/>
          </p:nvSpPr>
          <p:spPr>
            <a:xfrm>
              <a:off x="480060" y="4656820"/>
              <a:ext cx="4617558" cy="282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spc="0" baseline="0" dirty="0">
                  <a:ln/>
                  <a:solidFill>
                    <a:srgbClr val="CBD5E1"/>
                  </a:solidFill>
                  <a:latin typeface="Arial"/>
                  <a:cs typeface="Arial"/>
                  <a:sym typeface="Arial"/>
                  <a:rtl val="0"/>
                </a:rPr>
                <a:t>Yangpu District, Shanghai — A Typical Central Urban Area</a:t>
              </a: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1C8D14E-5698-348F-B77F-38771E8D8823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F2440"/>
          </a:solidFill>
          <a:ln w="9525" cap="flat">
            <a:noFill/>
            <a:prstDash val="solid"/>
            <a:miter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D8D5CE1-CB79-913B-5A5B-A600D1C07418}"/>
              </a:ext>
            </a:extLst>
          </p:cNvPr>
          <p:cNvSpPr/>
          <p:nvPr/>
        </p:nvSpPr>
        <p:spPr>
          <a:xfrm>
            <a:off x="-1377848" y="2640523"/>
            <a:ext cx="5715000" cy="5715000"/>
          </a:xfrm>
          <a:prstGeom prst="ellipse">
            <a:avLst/>
          </a:prstGeom>
          <a:solidFill>
            <a:srgbClr val="FFFFFF">
              <a:alpha val="5098"/>
            </a:srgbClr>
          </a:solidFill>
          <a:ln w="9525" cap="flat">
            <a:noFill/>
            <a:prstDash val="solid"/>
            <a:miter/>
          </a:ln>
        </p:spPr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B13E04B-6887-CDA4-F6EC-8704C08F0804}"/>
              </a:ext>
            </a:extLst>
          </p:cNvPr>
          <p:cNvSpPr/>
          <p:nvPr/>
        </p:nvSpPr>
        <p:spPr>
          <a:xfrm>
            <a:off x="8909152" y="-597977"/>
            <a:ext cx="3810000" cy="3810000"/>
          </a:xfrm>
          <a:prstGeom prst="ellipse">
            <a:avLst/>
          </a:prstGeom>
          <a:solidFill>
            <a:srgbClr val="FFFFFF">
              <a:alpha val="5098"/>
            </a:srgbClr>
          </a:solidFill>
          <a:ln w="9525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8305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BB4CA-5DBF-3AE5-6D4E-093F42DE3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77424A-5FC4-46B3-949C-8B5A7A6F6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FA9449-0FB7-BDB9-7E3E-DD1A83D151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</p:sp>
      <p:grpSp>
        <p:nvGrpSpPr>
          <p:cNvPr id="10" name="图形 6">
            <a:extLst>
              <a:ext uri="{FF2B5EF4-FFF2-40B4-BE49-F238E27FC236}">
                <a16:creationId xmlns:a16="http://schemas.microsoft.com/office/drawing/2014/main" id="{6B87B484-A080-E2AB-00CA-BA99D2C763F8}"/>
              </a:ext>
            </a:extLst>
          </p:cNvPr>
          <p:cNvGrpSpPr/>
          <p:nvPr/>
        </p:nvGrpSpPr>
        <p:grpSpPr>
          <a:xfrm>
            <a:off x="0" y="0"/>
            <a:ext cx="12192000" cy="1905000"/>
            <a:chOff x="0" y="0"/>
            <a:chExt cx="12192000" cy="19050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BEED1C7-4565-7842-414F-CFCD68CE0713}"/>
                </a:ext>
              </a:extLst>
            </p:cNvPr>
            <p:cNvSpPr/>
            <p:nvPr/>
          </p:nvSpPr>
          <p:spPr>
            <a:xfrm>
              <a:off x="0" y="0"/>
              <a:ext cx="12192000" cy="19050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82E6EDA-EC13-96B3-3B37-4B555F574EDF}"/>
                </a:ext>
              </a:extLst>
            </p:cNvPr>
            <p:cNvSpPr txBox="1"/>
            <p:nvPr/>
          </p:nvSpPr>
          <p:spPr>
            <a:xfrm>
              <a:off x="661370" y="663762"/>
              <a:ext cx="1725260" cy="54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15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Agenda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72EF553-C755-37B9-79AC-081EA981BA4A}"/>
                </a:ext>
              </a:extLst>
            </p:cNvPr>
            <p:cNvSpPr/>
            <p:nvPr/>
          </p:nvSpPr>
          <p:spPr>
            <a:xfrm>
              <a:off x="752810" y="1362075"/>
              <a:ext cx="66675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</p:grpSp>
      <p:grpSp>
        <p:nvGrpSpPr>
          <p:cNvPr id="15" name="图形 6">
            <a:extLst>
              <a:ext uri="{FF2B5EF4-FFF2-40B4-BE49-F238E27FC236}">
                <a16:creationId xmlns:a16="http://schemas.microsoft.com/office/drawing/2014/main" id="{7FB0B030-66D4-A62D-360D-A6829DC24D43}"/>
              </a:ext>
            </a:extLst>
          </p:cNvPr>
          <p:cNvGrpSpPr/>
          <p:nvPr/>
        </p:nvGrpSpPr>
        <p:grpSpPr>
          <a:xfrm>
            <a:off x="762000" y="2286000"/>
            <a:ext cx="5143500" cy="571500"/>
            <a:chOff x="762000" y="2286000"/>
            <a:chExt cx="5143500" cy="57150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A0A6398-0ACF-3D96-C836-18A49D387574}"/>
                </a:ext>
              </a:extLst>
            </p:cNvPr>
            <p:cNvSpPr/>
            <p:nvPr/>
          </p:nvSpPr>
          <p:spPr>
            <a:xfrm>
              <a:off x="762000" y="2286000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9E80468-6EA2-EB1A-7D5D-53D098B0C726}"/>
                </a:ext>
              </a:extLst>
            </p:cNvPr>
            <p:cNvSpPr/>
            <p:nvPr/>
          </p:nvSpPr>
          <p:spPr>
            <a:xfrm>
              <a:off x="762000" y="22860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A0A56B2-DEF0-2E47-DA75-380E532F8AF7}"/>
                </a:ext>
              </a:extLst>
            </p:cNvPr>
            <p:cNvSpPr txBox="1"/>
            <p:nvPr/>
          </p:nvSpPr>
          <p:spPr>
            <a:xfrm>
              <a:off x="956310" y="2429775"/>
              <a:ext cx="39477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01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E88D598-F96D-D72D-0E81-98084CA17C84}"/>
                </a:ext>
              </a:extLst>
            </p:cNvPr>
            <p:cNvSpPr txBox="1"/>
            <p:nvPr/>
          </p:nvSpPr>
          <p:spPr>
            <a:xfrm>
              <a:off x="1623060" y="2447020"/>
              <a:ext cx="2412985" cy="282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spc="0" baseline="0" dirty="0">
                  <a:ln/>
                  <a:solidFill>
                    <a:srgbClr val="334155"/>
                  </a:solidFill>
                  <a:latin typeface="Arial"/>
                  <a:cs typeface="Arial"/>
                  <a:sym typeface="Arial"/>
                  <a:rtl val="0"/>
                </a:rPr>
                <a:t>Background &amp; Research Gap</a:t>
              </a:r>
            </a:p>
          </p:txBody>
        </p:sp>
      </p:grpSp>
      <p:grpSp>
        <p:nvGrpSpPr>
          <p:cNvPr id="20" name="图形 6">
            <a:extLst>
              <a:ext uri="{FF2B5EF4-FFF2-40B4-BE49-F238E27FC236}">
                <a16:creationId xmlns:a16="http://schemas.microsoft.com/office/drawing/2014/main" id="{654EA988-0191-2F4F-EC32-BF5291B077EA}"/>
              </a:ext>
            </a:extLst>
          </p:cNvPr>
          <p:cNvGrpSpPr/>
          <p:nvPr/>
        </p:nvGrpSpPr>
        <p:grpSpPr>
          <a:xfrm>
            <a:off x="762000" y="3000375"/>
            <a:ext cx="5143500" cy="571500"/>
            <a:chOff x="762000" y="3000375"/>
            <a:chExt cx="5143500" cy="571500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944420A-A752-20FF-D513-1AD82AFA72D4}"/>
                </a:ext>
              </a:extLst>
            </p:cNvPr>
            <p:cNvSpPr/>
            <p:nvPr/>
          </p:nvSpPr>
          <p:spPr>
            <a:xfrm>
              <a:off x="762000" y="3000375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C04CF10-02A2-8C03-1B78-A1B542472201}"/>
                </a:ext>
              </a:extLst>
            </p:cNvPr>
            <p:cNvSpPr/>
            <p:nvPr/>
          </p:nvSpPr>
          <p:spPr>
            <a:xfrm>
              <a:off x="762000" y="3000375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93F778A-55A9-116C-095D-326C5CA6DF7A}"/>
                </a:ext>
              </a:extLst>
            </p:cNvPr>
            <p:cNvSpPr txBox="1"/>
            <p:nvPr/>
          </p:nvSpPr>
          <p:spPr>
            <a:xfrm>
              <a:off x="956310" y="3144150"/>
              <a:ext cx="39477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02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B54834B-3AA0-400E-48DB-7E97000DE1B0}"/>
                </a:ext>
              </a:extLst>
            </p:cNvPr>
            <p:cNvSpPr txBox="1"/>
            <p:nvPr/>
          </p:nvSpPr>
          <p:spPr>
            <a:xfrm>
              <a:off x="1623060" y="3161395"/>
              <a:ext cx="170431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spc="0" baseline="0" dirty="0">
                  <a:ln/>
                  <a:solidFill>
                    <a:srgbClr val="334155"/>
                  </a:solidFill>
                  <a:latin typeface="Arial"/>
                  <a:cs typeface="Arial"/>
                  <a:sym typeface="Arial"/>
                  <a:rtl val="0"/>
                </a:rPr>
                <a:t>Data Preprocessing</a:t>
              </a:r>
            </a:p>
          </p:txBody>
        </p:sp>
      </p:grpSp>
      <p:grpSp>
        <p:nvGrpSpPr>
          <p:cNvPr id="25" name="图形 6">
            <a:extLst>
              <a:ext uri="{FF2B5EF4-FFF2-40B4-BE49-F238E27FC236}">
                <a16:creationId xmlns:a16="http://schemas.microsoft.com/office/drawing/2014/main" id="{3584E417-74C3-F588-E9B6-20FD64CE56B7}"/>
              </a:ext>
            </a:extLst>
          </p:cNvPr>
          <p:cNvGrpSpPr/>
          <p:nvPr/>
        </p:nvGrpSpPr>
        <p:grpSpPr>
          <a:xfrm>
            <a:off x="762000" y="3714750"/>
            <a:ext cx="5143500" cy="571500"/>
            <a:chOff x="762000" y="3714750"/>
            <a:chExt cx="5143500" cy="57150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D96EA26-8E9D-F859-689D-C992D67545C6}"/>
                </a:ext>
              </a:extLst>
            </p:cNvPr>
            <p:cNvSpPr/>
            <p:nvPr/>
          </p:nvSpPr>
          <p:spPr>
            <a:xfrm>
              <a:off x="762000" y="3714750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55349491-D134-E5D1-1FD3-2F2574AEE7BD}"/>
                </a:ext>
              </a:extLst>
            </p:cNvPr>
            <p:cNvSpPr/>
            <p:nvPr/>
          </p:nvSpPr>
          <p:spPr>
            <a:xfrm>
              <a:off x="762000" y="37147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248FCFF-DE86-00BC-9CFF-4C25D8B1721D}"/>
                </a:ext>
              </a:extLst>
            </p:cNvPr>
            <p:cNvSpPr txBox="1"/>
            <p:nvPr/>
          </p:nvSpPr>
          <p:spPr>
            <a:xfrm>
              <a:off x="956310" y="3858525"/>
              <a:ext cx="39477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03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AC99AC-BDB3-A94D-2189-E9028129EEC5}"/>
                </a:ext>
              </a:extLst>
            </p:cNvPr>
            <p:cNvSpPr txBox="1"/>
            <p:nvPr/>
          </p:nvSpPr>
          <p:spPr>
            <a:xfrm>
              <a:off x="1623060" y="3875770"/>
              <a:ext cx="126188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spc="0" baseline="0" dirty="0">
                  <a:ln/>
                  <a:solidFill>
                    <a:srgbClr val="334155"/>
                  </a:solidFill>
                  <a:latin typeface="Arial"/>
                  <a:cs typeface="Arial"/>
                  <a:sym typeface="Arial"/>
                  <a:rtl val="0"/>
                </a:rPr>
                <a:t>Path Planning</a:t>
              </a:r>
            </a:p>
          </p:txBody>
        </p:sp>
      </p:grpSp>
      <p:grpSp>
        <p:nvGrpSpPr>
          <p:cNvPr id="30" name="图形 6">
            <a:extLst>
              <a:ext uri="{FF2B5EF4-FFF2-40B4-BE49-F238E27FC236}">
                <a16:creationId xmlns:a16="http://schemas.microsoft.com/office/drawing/2014/main" id="{9BED3876-6BFE-56F9-A8BE-9521B832BBEF}"/>
              </a:ext>
            </a:extLst>
          </p:cNvPr>
          <p:cNvGrpSpPr/>
          <p:nvPr/>
        </p:nvGrpSpPr>
        <p:grpSpPr>
          <a:xfrm>
            <a:off x="762000" y="4429125"/>
            <a:ext cx="5143500" cy="571500"/>
            <a:chOff x="762000" y="4429125"/>
            <a:chExt cx="5143500" cy="57150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C6478588-3554-976E-5EC2-552CA30336B8}"/>
                </a:ext>
              </a:extLst>
            </p:cNvPr>
            <p:cNvSpPr/>
            <p:nvPr/>
          </p:nvSpPr>
          <p:spPr>
            <a:xfrm>
              <a:off x="762000" y="4429125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7CCFD18C-5CC7-1CF2-B403-E526E9720328}"/>
                </a:ext>
              </a:extLst>
            </p:cNvPr>
            <p:cNvSpPr/>
            <p:nvPr/>
          </p:nvSpPr>
          <p:spPr>
            <a:xfrm>
              <a:off x="762000" y="4429125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2F8DBE3-1814-AAD6-8E57-5074A81C812E}"/>
                </a:ext>
              </a:extLst>
            </p:cNvPr>
            <p:cNvSpPr txBox="1"/>
            <p:nvPr/>
          </p:nvSpPr>
          <p:spPr>
            <a:xfrm>
              <a:off x="956310" y="4572900"/>
              <a:ext cx="39477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04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DCE3289-5F92-9F64-5143-5B7E9D0EC049}"/>
                </a:ext>
              </a:extLst>
            </p:cNvPr>
            <p:cNvSpPr txBox="1"/>
            <p:nvPr/>
          </p:nvSpPr>
          <p:spPr>
            <a:xfrm>
              <a:off x="1623060" y="4590145"/>
              <a:ext cx="1800558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350" spc="0" baseline="0" dirty="0">
                  <a:ln/>
                  <a:solidFill>
                    <a:srgbClr val="334155"/>
                  </a:solidFill>
                  <a:latin typeface="Arial"/>
                  <a:cs typeface="Arial"/>
                  <a:sym typeface="Arial"/>
                  <a:rtl val="0"/>
                </a:rPr>
                <a:t>Vertiport Deployment</a:t>
              </a:r>
              <a:endParaRPr lang="zh-CN" altLang="en-US" sz="1350" spc="0" baseline="0" dirty="0">
                <a:ln/>
                <a:solidFill>
                  <a:srgbClr val="334155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35" name="图形 6">
            <a:extLst>
              <a:ext uri="{FF2B5EF4-FFF2-40B4-BE49-F238E27FC236}">
                <a16:creationId xmlns:a16="http://schemas.microsoft.com/office/drawing/2014/main" id="{05AB707D-29B4-E080-A2B1-821FA8BEE39E}"/>
              </a:ext>
            </a:extLst>
          </p:cNvPr>
          <p:cNvGrpSpPr/>
          <p:nvPr/>
        </p:nvGrpSpPr>
        <p:grpSpPr>
          <a:xfrm>
            <a:off x="762000" y="5143500"/>
            <a:ext cx="5143500" cy="571500"/>
            <a:chOff x="762000" y="5143500"/>
            <a:chExt cx="5143500" cy="57150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F66BABDD-028C-7BD7-8CFC-918496C8D8B6}"/>
                </a:ext>
              </a:extLst>
            </p:cNvPr>
            <p:cNvSpPr/>
            <p:nvPr/>
          </p:nvSpPr>
          <p:spPr>
            <a:xfrm>
              <a:off x="762000" y="5143500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78C922E9-38B7-A0CF-358D-2DD85B474FA9}"/>
                </a:ext>
              </a:extLst>
            </p:cNvPr>
            <p:cNvSpPr/>
            <p:nvPr/>
          </p:nvSpPr>
          <p:spPr>
            <a:xfrm>
              <a:off x="762000" y="51435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EB0C6D3-BCDD-3D27-0019-702869E1F8DD}"/>
                </a:ext>
              </a:extLst>
            </p:cNvPr>
            <p:cNvSpPr txBox="1"/>
            <p:nvPr/>
          </p:nvSpPr>
          <p:spPr>
            <a:xfrm>
              <a:off x="956310" y="5287275"/>
              <a:ext cx="39477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05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4420496-EBCC-BE38-9BAD-35191C31E66B}"/>
                </a:ext>
              </a:extLst>
            </p:cNvPr>
            <p:cNvSpPr txBox="1"/>
            <p:nvPr/>
          </p:nvSpPr>
          <p:spPr>
            <a:xfrm>
              <a:off x="1623060" y="5304520"/>
              <a:ext cx="16755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350" spc="0" baseline="0" dirty="0">
                  <a:ln/>
                  <a:solidFill>
                    <a:srgbClr val="334155"/>
                  </a:solidFill>
                  <a:latin typeface="Arial"/>
                  <a:cs typeface="Arial"/>
                  <a:sym typeface="Arial"/>
                  <a:rtl val="0"/>
                </a:rPr>
                <a:t>Simulation Analysis</a:t>
              </a:r>
              <a:endParaRPr lang="zh-CN" altLang="en-US" sz="1350" spc="0" baseline="0" dirty="0">
                <a:ln/>
                <a:solidFill>
                  <a:srgbClr val="334155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40" name="图形 6">
            <a:extLst>
              <a:ext uri="{FF2B5EF4-FFF2-40B4-BE49-F238E27FC236}">
                <a16:creationId xmlns:a16="http://schemas.microsoft.com/office/drawing/2014/main" id="{BEAF9874-A694-8EDA-8EE6-9FCA850DDFE5}"/>
              </a:ext>
            </a:extLst>
          </p:cNvPr>
          <p:cNvGrpSpPr/>
          <p:nvPr/>
        </p:nvGrpSpPr>
        <p:grpSpPr>
          <a:xfrm>
            <a:off x="762000" y="5857875"/>
            <a:ext cx="5143500" cy="571500"/>
            <a:chOff x="762000" y="5857875"/>
            <a:chExt cx="5143500" cy="571500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EA8143D7-C548-07F0-1C1C-215DFEF39F2E}"/>
                </a:ext>
              </a:extLst>
            </p:cNvPr>
            <p:cNvSpPr/>
            <p:nvPr/>
          </p:nvSpPr>
          <p:spPr>
            <a:xfrm>
              <a:off x="762000" y="5857875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B50FC259-1026-DF06-AC2F-19C19EA26101}"/>
                </a:ext>
              </a:extLst>
            </p:cNvPr>
            <p:cNvSpPr/>
            <p:nvPr/>
          </p:nvSpPr>
          <p:spPr>
            <a:xfrm>
              <a:off x="762000" y="5857875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ECACA9A-0423-E083-8D80-97EC3A872EB9}"/>
                </a:ext>
              </a:extLst>
            </p:cNvPr>
            <p:cNvSpPr txBox="1"/>
            <p:nvPr/>
          </p:nvSpPr>
          <p:spPr>
            <a:xfrm>
              <a:off x="956310" y="6001650"/>
              <a:ext cx="39477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06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6D7857E-AD2F-677F-B43A-70F8040E9FEE}"/>
                </a:ext>
              </a:extLst>
            </p:cNvPr>
            <p:cNvSpPr txBox="1"/>
            <p:nvPr/>
          </p:nvSpPr>
          <p:spPr>
            <a:xfrm>
              <a:off x="1623060" y="6018895"/>
              <a:ext cx="2708418" cy="282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spc="0" baseline="0" dirty="0">
                  <a:ln/>
                  <a:solidFill>
                    <a:srgbClr val="334155"/>
                  </a:solidFill>
                  <a:latin typeface="Arial"/>
                  <a:cs typeface="Arial"/>
                  <a:sym typeface="Arial"/>
                  <a:rtl val="0"/>
                </a:rPr>
                <a:t>Conclusion &amp; Global Significance</a:t>
              </a:r>
            </a:p>
          </p:txBody>
        </p:sp>
      </p:grpSp>
      <p:sp>
        <p:nvSpPr>
          <p:cNvPr id="46" name="椭圆 45">
            <a:extLst>
              <a:ext uri="{FF2B5EF4-FFF2-40B4-BE49-F238E27FC236}">
                <a16:creationId xmlns:a16="http://schemas.microsoft.com/office/drawing/2014/main" id="{51E64429-737E-828A-B033-90DD34CB66F7}"/>
              </a:ext>
            </a:extLst>
          </p:cNvPr>
          <p:cNvSpPr/>
          <p:nvPr/>
        </p:nvSpPr>
        <p:spPr>
          <a:xfrm>
            <a:off x="7810500" y="762000"/>
            <a:ext cx="5334000" cy="5334000"/>
          </a:xfrm>
          <a:prstGeom prst="ellipse">
            <a:avLst/>
          </a:prstGeom>
          <a:solidFill>
            <a:srgbClr val="1E3A5F">
              <a:alpha val="5098"/>
            </a:srgbClr>
          </a:solidFill>
          <a:ln w="9525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7513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C2AEABA-651C-7CFD-326C-1032F866D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</p:sp>
      <p:grpSp>
        <p:nvGrpSpPr>
          <p:cNvPr id="8" name="图形 4">
            <a:extLst>
              <a:ext uri="{FF2B5EF4-FFF2-40B4-BE49-F238E27FC236}">
                <a16:creationId xmlns:a16="http://schemas.microsoft.com/office/drawing/2014/main" id="{CF358939-2CB1-4ECF-CEE1-50F57C947675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DF112B-9460-5310-F664-A88667815B0F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DA23DE7-D3C0-C5C1-F2E3-68CDD386C82F}"/>
                </a:ext>
              </a:extLst>
            </p:cNvPr>
            <p:cNvSpPr txBox="1"/>
            <p:nvPr/>
          </p:nvSpPr>
          <p:spPr>
            <a:xfrm>
              <a:off x="480060" y="436780"/>
              <a:ext cx="4274909" cy="4377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The Urban UAV Challenge</a:t>
              </a:r>
            </a:p>
          </p:txBody>
        </p:sp>
      </p:grpSp>
      <p:grpSp>
        <p:nvGrpSpPr>
          <p:cNvPr id="12" name="图形 4">
            <a:extLst>
              <a:ext uri="{FF2B5EF4-FFF2-40B4-BE49-F238E27FC236}">
                <a16:creationId xmlns:a16="http://schemas.microsoft.com/office/drawing/2014/main" id="{373EE8DE-CDE8-A691-6FDE-8DF98C1BCAD9}"/>
              </a:ext>
            </a:extLst>
          </p:cNvPr>
          <p:cNvGrpSpPr/>
          <p:nvPr/>
        </p:nvGrpSpPr>
        <p:grpSpPr>
          <a:xfrm>
            <a:off x="480060" y="1353450"/>
            <a:ext cx="3521325" cy="4079703"/>
            <a:chOff x="480060" y="1353450"/>
            <a:chExt cx="3521325" cy="407970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69AAFC7-CBEA-B769-0C11-68BB2E717F28}"/>
                </a:ext>
              </a:extLst>
            </p:cNvPr>
            <p:cNvSpPr txBox="1"/>
            <p:nvPr/>
          </p:nvSpPr>
          <p:spPr>
            <a:xfrm>
              <a:off x="480060" y="1353450"/>
              <a:ext cx="2966151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Low-Altitude Economy Growth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8302840-DDB4-EB01-19A7-6B9F5EFEBACD}"/>
                </a:ext>
              </a:extLst>
            </p:cNvPr>
            <p:cNvSpPr/>
            <p:nvPr/>
          </p:nvSpPr>
          <p:spPr>
            <a:xfrm>
              <a:off x="571500" y="1714500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CD32F8F-86C6-A060-50D8-23EC4FBBD952}"/>
                </a:ext>
              </a:extLst>
            </p:cNvPr>
            <p:cNvSpPr txBox="1"/>
            <p:nvPr/>
          </p:nvSpPr>
          <p:spPr>
            <a:xfrm>
              <a:off x="1269568" y="1900371"/>
              <a:ext cx="2731817" cy="251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2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City Governance &amp; Emergency Services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AF9E682-D595-EF74-DB14-ED6CF4C6496F}"/>
                </a:ext>
              </a:extLst>
            </p:cNvPr>
            <p:cNvSpPr txBox="1"/>
            <p:nvPr/>
          </p:nvSpPr>
          <p:spPr>
            <a:xfrm>
              <a:off x="1269568" y="3600398"/>
              <a:ext cx="2302843" cy="251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2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Day-to-Day Deliveries &amp; Logistics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475D4EA-ED32-FDCD-8D54-C00E34DB8691}"/>
                </a:ext>
              </a:extLst>
            </p:cNvPr>
            <p:cNvSpPr txBox="1"/>
            <p:nvPr/>
          </p:nvSpPr>
          <p:spPr>
            <a:xfrm>
              <a:off x="1269568" y="5167696"/>
              <a:ext cx="1258678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12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City Governance</a:t>
              </a:r>
              <a:endParaRPr lang="zh-CN" altLang="en-US" sz="1125" spc="0" baseline="0" dirty="0">
                <a:ln/>
                <a:solidFill>
                  <a:srgbClr val="1E3A5F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pic>
        <p:nvPicPr>
          <p:cNvPr id="68" name="图片 67">
            <a:extLst>
              <a:ext uri="{FF2B5EF4-FFF2-40B4-BE49-F238E27FC236}">
                <a16:creationId xmlns:a16="http://schemas.microsoft.com/office/drawing/2014/main" id="{4A7B3F82-8139-53FD-BAD6-5C45FA972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407" y="2290307"/>
            <a:ext cx="1785978" cy="1127398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49CC8487-5076-575D-FBB7-FDEB139D3506}"/>
              </a:ext>
            </a:extLst>
          </p:cNvPr>
          <p:cNvPicPr>
            <a:picLocks/>
          </p:cNvPicPr>
          <p:nvPr/>
        </p:nvPicPr>
        <p:blipFill>
          <a:blip r:embed="rId3"/>
          <a:srcRect b="10456"/>
          <a:stretch>
            <a:fillRect/>
          </a:stretch>
        </p:blipFill>
        <p:spPr>
          <a:xfrm>
            <a:off x="2215407" y="3984619"/>
            <a:ext cx="1785978" cy="1127398"/>
          </a:xfrm>
          <a:prstGeom prst="rect">
            <a:avLst/>
          </a:prstGeom>
        </p:spPr>
      </p:pic>
      <p:pic>
        <p:nvPicPr>
          <p:cNvPr id="73" name="图片 72" descr="查看源图像">
            <a:extLst>
              <a:ext uri="{FF2B5EF4-FFF2-40B4-BE49-F238E27FC236}">
                <a16:creationId xmlns:a16="http://schemas.microsoft.com/office/drawing/2014/main" id="{0B48C1AD-C5A6-30D2-6AAA-95ECB99B2BCF}"/>
              </a:ext>
            </a:extLst>
          </p:cNvPr>
          <p:cNvPicPr>
            <a:picLocks/>
          </p:cNvPicPr>
          <p:nvPr/>
        </p:nvPicPr>
        <p:blipFill>
          <a:blip r:embed="rId4"/>
          <a:srcRect l="7122" r="15453" b="25257"/>
          <a:stretch>
            <a:fillRect/>
          </a:stretch>
        </p:blipFill>
        <p:spPr>
          <a:xfrm>
            <a:off x="2215407" y="5555648"/>
            <a:ext cx="1785978" cy="1122235"/>
          </a:xfrm>
          <a:prstGeom prst="rect">
            <a:avLst/>
          </a:prstGeom>
        </p:spPr>
      </p:pic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21A73B4F-814D-909C-CDC6-20B5EB9FDE70}"/>
              </a:ext>
            </a:extLst>
          </p:cNvPr>
          <p:cNvSpPr/>
          <p:nvPr/>
        </p:nvSpPr>
        <p:spPr>
          <a:xfrm>
            <a:off x="6166262" y="2341928"/>
            <a:ext cx="5334000" cy="1644651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 cap="flat">
            <a:solidFill>
              <a:srgbClr val="E2E8F0"/>
            </a:solidFill>
            <a:prstDash val="solid"/>
            <a:miter/>
          </a:ln>
        </p:spPr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367B9678-4C1E-7FC7-8094-96BA2FD6C533}"/>
              </a:ext>
            </a:extLst>
          </p:cNvPr>
          <p:cNvSpPr/>
          <p:nvPr/>
        </p:nvSpPr>
        <p:spPr>
          <a:xfrm>
            <a:off x="6166262" y="2151429"/>
            <a:ext cx="5334000" cy="523875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9525" cap="flat">
            <a:noFill/>
            <a:prstDash val="solid"/>
            <a:miter/>
          </a:ln>
        </p:spPr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095D3C1-3F39-FE24-8B5B-59CE8523FEDC}"/>
              </a:ext>
            </a:extLst>
          </p:cNvPr>
          <p:cNvSpPr txBox="1"/>
          <p:nvPr/>
        </p:nvSpPr>
        <p:spPr>
          <a:xfrm>
            <a:off x="6982658" y="2193675"/>
            <a:ext cx="3393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T</a:t>
            </a:r>
            <a:r>
              <a:rPr lang="zh-CN" altLang="zh-CN" sz="1200" b="1" dirty="0">
                <a:ln/>
                <a:solidFill>
                  <a:srgbClr val="FFFFFF"/>
                </a:solidFill>
                <a:latin typeface="Arial"/>
                <a:cs typeface="Arial"/>
                <a:rtl val="0"/>
              </a:rPr>
              <a:t>he 15th Five-Year Plan for </a:t>
            </a:r>
            <a:endParaRPr lang="en-US" altLang="zh-CN" sz="1200" b="1" dirty="0">
              <a:ln/>
              <a:solidFill>
                <a:srgbClr val="FFFFFF"/>
              </a:solidFill>
              <a:latin typeface="Arial"/>
              <a:cs typeface="Arial"/>
              <a:rtl val="0"/>
            </a:endParaRPr>
          </a:p>
          <a:p>
            <a:pPr algn="ctr"/>
            <a:r>
              <a:rPr lang="zh-CN" altLang="zh-CN" sz="1200" b="1" dirty="0">
                <a:ln/>
                <a:solidFill>
                  <a:srgbClr val="FFFFFF"/>
                </a:solidFill>
                <a:latin typeface="Arial"/>
                <a:cs typeface="Arial"/>
                <a:rtl val="0"/>
              </a:rPr>
              <a:t>National Economic and Social Development</a:t>
            </a:r>
            <a:endParaRPr lang="zh-CN" altLang="en-US" sz="1200" b="1" dirty="0">
              <a:ln/>
              <a:solidFill>
                <a:srgbClr val="FFFFFF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A270C7E-E149-41A1-5710-17C373F29D6C}"/>
              </a:ext>
            </a:extLst>
          </p:cNvPr>
          <p:cNvSpPr txBox="1"/>
          <p:nvPr/>
        </p:nvSpPr>
        <p:spPr>
          <a:xfrm>
            <a:off x="6792891" y="2823558"/>
            <a:ext cx="4080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n/>
                <a:solidFill>
                  <a:srgbClr val="64748B"/>
                </a:solidFill>
                <a:latin typeface="Arial"/>
                <a:cs typeface="Arial"/>
                <a:rtl val="0"/>
              </a:rPr>
              <a:t>We should accelerate the development of industrial clusters in strategic emerging fields such as new energy, new materials, aviation and aerospace, and </a:t>
            </a:r>
            <a:r>
              <a:rPr lang="en-US" altLang="zh-CN" sz="1400" b="1" dirty="0">
                <a:ln/>
                <a:solidFill>
                  <a:srgbClr val="64748B"/>
                </a:solidFill>
                <a:latin typeface="Arial"/>
                <a:cs typeface="Arial"/>
                <a:rtl val="0"/>
              </a:rPr>
              <a:t>the low-altitude economy</a:t>
            </a:r>
            <a:r>
              <a:rPr lang="en-US" altLang="zh-CN" sz="1400" dirty="0">
                <a:ln/>
                <a:solidFill>
                  <a:srgbClr val="64748B"/>
                </a:solidFill>
                <a:latin typeface="Arial"/>
                <a:cs typeface="Arial"/>
                <a:rtl val="0"/>
              </a:rPr>
              <a:t>.</a:t>
            </a:r>
            <a:endParaRPr lang="zh-CN" altLang="en-US" sz="1400" dirty="0">
              <a:ln/>
              <a:solidFill>
                <a:srgbClr val="64748B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6A16C949-BC4A-7501-B890-508B22A8F617}"/>
              </a:ext>
            </a:extLst>
          </p:cNvPr>
          <p:cNvSpPr/>
          <p:nvPr/>
        </p:nvSpPr>
        <p:spPr>
          <a:xfrm>
            <a:off x="6166261" y="4421548"/>
            <a:ext cx="5334000" cy="1831981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 cap="flat">
            <a:solidFill>
              <a:srgbClr val="E2E8F0"/>
            </a:solidFill>
            <a:prstDash val="solid"/>
            <a:miter/>
          </a:ln>
        </p:spPr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72F80DF-56EE-241C-7ABF-D80EB9876B41}"/>
              </a:ext>
            </a:extLst>
          </p:cNvPr>
          <p:cNvSpPr txBox="1"/>
          <p:nvPr/>
        </p:nvSpPr>
        <p:spPr>
          <a:xfrm>
            <a:off x="6737112" y="4555552"/>
            <a:ext cx="40807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ln/>
                <a:solidFill>
                  <a:srgbClr val="64748B"/>
                </a:solidFill>
                <a:latin typeface="Arial"/>
                <a:cs typeface="Arial"/>
                <a:rtl val="0"/>
              </a:rPr>
              <a:t>Imagine an economy not built on highways and rail lines—but on digital air corridors, autonomous drones, vertiports, and AI-supported logistics. This is what the report Morgondagens Flyg calls the “low altitude economy”—an emerging industrial ecosystem operating primarily below 500 feet.</a:t>
            </a:r>
            <a:endParaRPr lang="zh-CN" altLang="en-US" sz="1400" dirty="0">
              <a:ln/>
              <a:solidFill>
                <a:srgbClr val="64748B"/>
              </a:solidFill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08025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>
            <a:extLst>
              <a:ext uri="{FF2B5EF4-FFF2-40B4-BE49-F238E27FC236}">
                <a16:creationId xmlns:a16="http://schemas.microsoft.com/office/drawing/2014/main" id="{30153ECC-142C-E367-D5FD-8B9CE660E0E3}"/>
              </a:ext>
            </a:extLst>
          </p:cNvPr>
          <p:cNvSpPr/>
          <p:nvPr/>
        </p:nvSpPr>
        <p:spPr>
          <a:xfrm>
            <a:off x="0" y="-30277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6" name="图形 132">
            <a:extLst>
              <a:ext uri="{FF2B5EF4-FFF2-40B4-BE49-F238E27FC236}">
                <a16:creationId xmlns:a16="http://schemas.microsoft.com/office/drawing/2014/main" id="{E98C0D6E-DCCE-1C0A-0D0F-31685495BD7C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3EF32E14-14F8-CEA4-0062-E0C7F6215D78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62B3667D-C903-7E0D-6683-699A2737A1CD}"/>
                </a:ext>
              </a:extLst>
            </p:cNvPr>
            <p:cNvSpPr txBox="1"/>
            <p:nvPr/>
          </p:nvSpPr>
          <p:spPr>
            <a:xfrm>
              <a:off x="480060" y="436780"/>
              <a:ext cx="5738336" cy="4377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Proposed Optimization Framework</a:t>
              </a:r>
            </a:p>
          </p:txBody>
        </p:sp>
      </p:grpSp>
      <p:grpSp>
        <p:nvGrpSpPr>
          <p:cNvPr id="140" name="图形 132">
            <a:extLst>
              <a:ext uri="{FF2B5EF4-FFF2-40B4-BE49-F238E27FC236}">
                <a16:creationId xmlns:a16="http://schemas.microsoft.com/office/drawing/2014/main" id="{8F920D0E-CAD5-C107-9431-C9ADF265A717}"/>
              </a:ext>
            </a:extLst>
          </p:cNvPr>
          <p:cNvGrpSpPr/>
          <p:nvPr/>
        </p:nvGrpSpPr>
        <p:grpSpPr>
          <a:xfrm>
            <a:off x="480060" y="1370695"/>
            <a:ext cx="5425440" cy="4116610"/>
            <a:chOff x="480060" y="1370695"/>
            <a:chExt cx="5425440" cy="4116610"/>
          </a:xfrm>
        </p:grpSpPr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51DBBE49-DEDC-EBE5-8231-06DD1D19AFA4}"/>
                </a:ext>
              </a:extLst>
            </p:cNvPr>
            <p:cNvSpPr txBox="1"/>
            <p:nvPr/>
          </p:nvSpPr>
          <p:spPr>
            <a:xfrm>
              <a:off x="480060" y="1370695"/>
              <a:ext cx="230063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Limitations </a:t>
              </a:r>
              <a:r>
                <a:rPr lang="en-US" altLang="zh-CN" sz="1350" b="1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and</a:t>
              </a:r>
              <a:r>
                <a:rPr lang="zh-CN" altLang="en-US" sz="135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 Solutions</a:t>
              </a:r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7E5E6DE8-1D87-6C68-8430-D8036DB1CAFF}"/>
                </a:ext>
              </a:extLst>
            </p:cNvPr>
            <p:cNvSpPr/>
            <p:nvPr/>
          </p:nvSpPr>
          <p:spPr>
            <a:xfrm>
              <a:off x="571500" y="1714500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  <p:grpSp>
          <p:nvGrpSpPr>
            <p:cNvPr id="143" name="图形 132">
              <a:extLst>
                <a:ext uri="{FF2B5EF4-FFF2-40B4-BE49-F238E27FC236}">
                  <a16:creationId xmlns:a16="http://schemas.microsoft.com/office/drawing/2014/main" id="{DF17C244-4702-61EA-D890-DA71A230BD6A}"/>
                </a:ext>
              </a:extLst>
            </p:cNvPr>
            <p:cNvGrpSpPr/>
            <p:nvPr/>
          </p:nvGrpSpPr>
          <p:grpSpPr>
            <a:xfrm>
              <a:off x="571500" y="2000250"/>
              <a:ext cx="5334000" cy="1333500"/>
              <a:chOff x="571500" y="2000250"/>
              <a:chExt cx="5334000" cy="1333500"/>
            </a:xfrm>
          </p:grpSpPr>
          <p:sp>
            <p:nvSpPr>
              <p:cNvPr id="144" name="矩形: 圆角 143">
                <a:extLst>
                  <a:ext uri="{FF2B5EF4-FFF2-40B4-BE49-F238E27FC236}">
                    <a16:creationId xmlns:a16="http://schemas.microsoft.com/office/drawing/2014/main" id="{6C64E9A1-122C-F754-599D-15CBC6BD2399}"/>
                  </a:ext>
                </a:extLst>
              </p:cNvPr>
              <p:cNvSpPr/>
              <p:nvPr/>
            </p:nvSpPr>
            <p:spPr>
              <a:xfrm>
                <a:off x="571500" y="2000250"/>
                <a:ext cx="5334000" cy="1333500"/>
              </a:xfrm>
              <a:prstGeom prst="roundRect">
                <a:avLst>
                  <a:gd name="adj" fmla="val 4285"/>
                </a:avLst>
              </a:prstGeom>
              <a:solidFill>
                <a:schemeClr val="bg1"/>
              </a:solidFill>
              <a:ln w="9525" cap="flat">
                <a:solidFill>
                  <a:srgbClr val="1E3A5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6AFF71B9-1894-21A6-E0F0-18632EF10429}"/>
                  </a:ext>
                </a:extLst>
              </p:cNvPr>
              <p:cNvSpPr txBox="1"/>
              <p:nvPr/>
            </p:nvSpPr>
            <p:spPr>
              <a:xfrm>
                <a:off x="670560" y="2063314"/>
                <a:ext cx="1731564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Prior Work Limitations</a:t>
                </a:r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3B1E54F1-95D4-4696-14EC-ECAAD66B1B6D}"/>
                  </a:ext>
                </a:extLst>
              </p:cNvPr>
              <p:cNvSpPr/>
              <p:nvPr/>
            </p:nvSpPr>
            <p:spPr>
              <a:xfrm>
                <a:off x="762000" y="2333625"/>
                <a:ext cx="4953000" cy="9525"/>
              </a:xfrm>
              <a:prstGeom prst="rect">
                <a:avLst/>
              </a:prstGeom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miter/>
              </a:ln>
            </p:spPr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86356FD5-8BE2-92F4-1430-881B6D2AC330}"/>
                  </a:ext>
                </a:extLst>
              </p:cNvPr>
              <p:cNvSpPr txBox="1"/>
              <p:nvPr/>
            </p:nvSpPr>
            <p:spPr>
              <a:xfrm>
                <a:off x="622935" y="2394884"/>
                <a:ext cx="3605474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• </a:t>
                </a:r>
                <a:r>
                  <a:rPr lang="en-US" altLang="zh-CN" sz="975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Discrete buildings obstacles raises computational complexity</a:t>
                </a:r>
                <a:endParaRPr lang="zh-CN" altLang="en-US" sz="97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366D8717-FFE1-A9FB-B739-1E79AC3499EB}"/>
                  </a:ext>
                </a:extLst>
              </p:cNvPr>
              <p:cNvSpPr txBox="1"/>
              <p:nvPr/>
            </p:nvSpPr>
            <p:spPr>
              <a:xfrm>
                <a:off x="622935" y="2604434"/>
                <a:ext cx="2379177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• Oversimplified </a:t>
                </a:r>
                <a:r>
                  <a:rPr lang="en-US" altLang="zh-CN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path planning algorithm</a:t>
                </a:r>
                <a:endParaRPr lang="zh-CN" altLang="en-US" sz="97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61CF7ABE-7179-8818-86F3-505E042F0BF8}"/>
                  </a:ext>
                </a:extLst>
              </p:cNvPr>
              <p:cNvSpPr txBox="1"/>
              <p:nvPr/>
            </p:nvSpPr>
            <p:spPr>
              <a:xfrm>
                <a:off x="622935" y="2813984"/>
                <a:ext cx="3571812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• </a:t>
                </a:r>
                <a:r>
                  <a:rPr lang="en-US" altLang="zh-CN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Numerous siting schemes lack comprehensive comparisons</a:t>
                </a:r>
                <a:endParaRPr lang="zh-CN" altLang="en-US" sz="97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0BCBD718-2265-A354-00C4-C18286D0ADC6}"/>
                  </a:ext>
                </a:extLst>
              </p:cNvPr>
              <p:cNvSpPr txBox="1"/>
              <p:nvPr/>
            </p:nvSpPr>
            <p:spPr>
              <a:xfrm>
                <a:off x="622935" y="3023534"/>
                <a:ext cx="2802370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• No integrated vertiport-path planning workflow</a:t>
                </a:r>
              </a:p>
            </p:txBody>
          </p:sp>
        </p:grpSp>
        <p:grpSp>
          <p:nvGrpSpPr>
            <p:cNvPr id="151" name="图形 132">
              <a:extLst>
                <a:ext uri="{FF2B5EF4-FFF2-40B4-BE49-F238E27FC236}">
                  <a16:creationId xmlns:a16="http://schemas.microsoft.com/office/drawing/2014/main" id="{8780FD99-3CD5-A9BB-B445-5A0C6B0D491C}"/>
                </a:ext>
              </a:extLst>
            </p:cNvPr>
            <p:cNvGrpSpPr/>
            <p:nvPr/>
          </p:nvGrpSpPr>
          <p:grpSpPr>
            <a:xfrm>
              <a:off x="571500" y="4153805"/>
              <a:ext cx="5334000" cy="1333500"/>
              <a:chOff x="571500" y="4153805"/>
              <a:chExt cx="5334000" cy="1333500"/>
            </a:xfrm>
          </p:grpSpPr>
          <p:sp>
            <p:nvSpPr>
              <p:cNvPr id="152" name="矩形: 圆角 151">
                <a:extLst>
                  <a:ext uri="{FF2B5EF4-FFF2-40B4-BE49-F238E27FC236}">
                    <a16:creationId xmlns:a16="http://schemas.microsoft.com/office/drawing/2014/main" id="{800FD4D9-E6FD-23DF-F891-48F8E56F27D3}"/>
                  </a:ext>
                </a:extLst>
              </p:cNvPr>
              <p:cNvSpPr/>
              <p:nvPr/>
            </p:nvSpPr>
            <p:spPr>
              <a:xfrm>
                <a:off x="571500" y="4153805"/>
                <a:ext cx="5334000" cy="1333500"/>
              </a:xfrm>
              <a:prstGeom prst="roundRect">
                <a:avLst>
                  <a:gd name="adj" fmla="val 3333"/>
                </a:avLst>
              </a:prstGeom>
              <a:solidFill>
                <a:schemeClr val="bg1"/>
              </a:solidFill>
              <a:ln w="9525" cap="flat">
                <a:solidFill>
                  <a:srgbClr val="1E3A5F"/>
                </a:solidFill>
                <a:prstDash val="solid"/>
                <a:miter/>
              </a:ln>
            </p:spPr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6985BCA3-1685-222F-4C81-3CC4B7F655E6}"/>
                  </a:ext>
                </a:extLst>
              </p:cNvPr>
              <p:cNvSpPr txBox="1"/>
              <p:nvPr/>
            </p:nvSpPr>
            <p:spPr>
              <a:xfrm>
                <a:off x="670560" y="4216869"/>
                <a:ext cx="1843774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Our Proposed Solutions</a:t>
                </a: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0C7F344-4F41-025E-BEF3-5B2AE6DCAF88}"/>
                  </a:ext>
                </a:extLst>
              </p:cNvPr>
              <p:cNvSpPr txBox="1"/>
              <p:nvPr/>
            </p:nvSpPr>
            <p:spPr>
              <a:xfrm>
                <a:off x="622935" y="4548439"/>
                <a:ext cx="3990195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Cambria Math"/>
                    <a:sym typeface="Cambria Math"/>
                    <a:rtl val="0"/>
                  </a:rPr>
                  <a:t>①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en-US" altLang="zh-CN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Adopt spatial gridding to embed data and reduce collision analysis</a:t>
                </a:r>
                <a:endParaRPr lang="zh-CN" altLang="en-US" sz="97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FDF2343-428F-58AF-9855-38AFD9D15BFB}"/>
                  </a:ext>
                </a:extLst>
              </p:cNvPr>
              <p:cNvSpPr txBox="1"/>
              <p:nvPr/>
            </p:nvSpPr>
            <p:spPr>
              <a:xfrm>
                <a:off x="622935" y="4777039"/>
                <a:ext cx="3687228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Cambria Math"/>
                    <a:sym typeface="Cambria Math"/>
                    <a:rtl val="0"/>
                  </a:rPr>
                  <a:t>②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en-US" altLang="zh-CN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Flexible direction expansion and p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hysics-based cost function</a:t>
                </a: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917A5022-8985-2DF6-7DD6-034509D0FD0B}"/>
                  </a:ext>
                </a:extLst>
              </p:cNvPr>
              <p:cNvSpPr txBox="1"/>
              <p:nvPr/>
            </p:nvSpPr>
            <p:spPr>
              <a:xfrm>
                <a:off x="622935" y="5005639"/>
                <a:ext cx="2937022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Cambria Math"/>
                    <a:sym typeface="Cambria Math"/>
                    <a:rtl val="0"/>
                  </a:rPr>
                  <a:t>③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Integrated P-Median + Lagrangian optimization</a:t>
                </a:r>
                <a:endParaRPr lang="zh-CN" altLang="en-US" sz="97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DD045E86-0782-E184-04B3-BA708E40A6DB}"/>
                  </a:ext>
                </a:extLst>
              </p:cNvPr>
              <p:cNvSpPr txBox="1"/>
              <p:nvPr/>
            </p:nvSpPr>
            <p:spPr>
              <a:xfrm>
                <a:off x="622935" y="5234239"/>
                <a:ext cx="3058851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Cambria Math"/>
                    <a:sym typeface="Cambria Math"/>
                    <a:rtl val="0"/>
                  </a:rPr>
                  <a:t>④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zh-CN" altLang="en-US" sz="975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Full-chain replicable framework for urban districts</a:t>
                </a:r>
                <a:endParaRPr lang="zh-CN" altLang="en-US" sz="975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  <p:grpSp>
        <p:nvGrpSpPr>
          <p:cNvPr id="160" name="图形 132">
            <a:extLst>
              <a:ext uri="{FF2B5EF4-FFF2-40B4-BE49-F238E27FC236}">
                <a16:creationId xmlns:a16="http://schemas.microsoft.com/office/drawing/2014/main" id="{C4B424F8-0587-EADC-74EE-5DB69B7F23E9}"/>
              </a:ext>
            </a:extLst>
          </p:cNvPr>
          <p:cNvGrpSpPr/>
          <p:nvPr/>
        </p:nvGrpSpPr>
        <p:grpSpPr>
          <a:xfrm>
            <a:off x="7324641" y="1370695"/>
            <a:ext cx="1916969" cy="372380"/>
            <a:chOff x="6195060" y="1370695"/>
            <a:chExt cx="1916969" cy="372380"/>
          </a:xfrm>
        </p:grpSpPr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018BA556-80D5-F145-042B-84D22D914D08}"/>
                </a:ext>
              </a:extLst>
            </p:cNvPr>
            <p:cNvSpPr txBox="1"/>
            <p:nvPr/>
          </p:nvSpPr>
          <p:spPr>
            <a:xfrm>
              <a:off x="6195060" y="1370695"/>
              <a:ext cx="1916969" cy="282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Full-Process Pipeline</a:t>
              </a:r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F0910C04-914A-84B7-DEA2-D35C8BAEF516}"/>
                </a:ext>
              </a:extLst>
            </p:cNvPr>
            <p:cNvSpPr/>
            <p:nvPr/>
          </p:nvSpPr>
          <p:spPr>
            <a:xfrm>
              <a:off x="6286500" y="1714500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</p:grpSp>
      <p:pic>
        <p:nvPicPr>
          <p:cNvPr id="188" name="图片 187">
            <a:extLst>
              <a:ext uri="{FF2B5EF4-FFF2-40B4-BE49-F238E27FC236}">
                <a16:creationId xmlns:a16="http://schemas.microsoft.com/office/drawing/2014/main" id="{3C299F2F-F21B-20CA-129B-08541A2FA9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5" r="29215" b="26155"/>
          <a:stretch>
            <a:fillRect/>
          </a:stretch>
        </p:blipFill>
        <p:spPr>
          <a:xfrm>
            <a:off x="7278987" y="1854513"/>
            <a:ext cx="3511058" cy="4460350"/>
          </a:xfrm>
          <a:prstGeom prst="rect">
            <a:avLst/>
          </a:prstGeom>
        </p:spPr>
      </p:pic>
      <p:sp>
        <p:nvSpPr>
          <p:cNvPr id="193" name="箭头: 右 192">
            <a:extLst>
              <a:ext uri="{FF2B5EF4-FFF2-40B4-BE49-F238E27FC236}">
                <a16:creationId xmlns:a16="http://schemas.microsoft.com/office/drawing/2014/main" id="{B63ABB7F-5B03-EC17-3C96-B8418A33F22F}"/>
              </a:ext>
            </a:extLst>
          </p:cNvPr>
          <p:cNvSpPr/>
          <p:nvPr/>
        </p:nvSpPr>
        <p:spPr>
          <a:xfrm rot="5400000">
            <a:off x="2708566" y="3570898"/>
            <a:ext cx="685964" cy="373904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FCDDE394-BFD4-460D-FD37-E7CB74132196}"/>
              </a:ext>
            </a:extLst>
          </p:cNvPr>
          <p:cNvSpPr/>
          <p:nvPr/>
        </p:nvSpPr>
        <p:spPr>
          <a:xfrm>
            <a:off x="762000" y="4493895"/>
            <a:ext cx="4953000" cy="9525"/>
          </a:xfrm>
          <a:prstGeom prst="rect">
            <a:avLst/>
          </a:prstGeom>
          <a:solidFill>
            <a:srgbClr val="1E3A5F"/>
          </a:solidFill>
          <a:ln w="9525" cap="flat">
            <a:solidFill>
              <a:srgbClr val="1E3A5F"/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78639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C7163F-348B-64AF-5DD7-B5046B8B2E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</p:sp>
      <p:grpSp>
        <p:nvGrpSpPr>
          <p:cNvPr id="8" name="图形 4">
            <a:extLst>
              <a:ext uri="{FF2B5EF4-FFF2-40B4-BE49-F238E27FC236}">
                <a16:creationId xmlns:a16="http://schemas.microsoft.com/office/drawing/2014/main" id="{77ECC918-784D-04E4-A5B3-E4B9FFB2CD3E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63911E-733A-F74A-2F0C-AC7E8FF57C37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0A65405-0551-906E-45FA-D744B1D64E42}"/>
                </a:ext>
              </a:extLst>
            </p:cNvPr>
            <p:cNvSpPr txBox="1"/>
            <p:nvPr/>
          </p:nvSpPr>
          <p:spPr>
            <a:xfrm>
              <a:off x="480060" y="436780"/>
              <a:ext cx="64299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Spatial Gridding </a:t>
              </a:r>
              <a:r>
                <a:rPr lang="en-US" altLang="zh-CN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and</a:t>
              </a:r>
              <a:r>
                <a:rPr lang="zh-CN" altLang="en-US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 Data </a:t>
              </a:r>
              <a:r>
                <a:rPr lang="en-US" altLang="zh-CN" sz="2400" b="1" spc="0" baseline="0" dirty="0" err="1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Prerocessing</a:t>
              </a:r>
              <a:endParaRPr lang="zh-CN" altLang="en-US" sz="2400" b="1" spc="0" baseline="0" dirty="0">
                <a:ln/>
                <a:solidFill>
                  <a:srgbClr val="FFFFFF"/>
                </a:solidFill>
                <a:latin typeface="Georgia"/>
                <a:sym typeface="Georgia"/>
                <a:rtl val="0"/>
              </a:endParaRPr>
            </a:p>
          </p:txBody>
        </p:sp>
      </p:grpSp>
      <p:grpSp>
        <p:nvGrpSpPr>
          <p:cNvPr id="12" name="图形 4">
            <a:extLst>
              <a:ext uri="{FF2B5EF4-FFF2-40B4-BE49-F238E27FC236}">
                <a16:creationId xmlns:a16="http://schemas.microsoft.com/office/drawing/2014/main" id="{CB37037F-443D-5B2E-4B8C-E08D1B63BAE1}"/>
              </a:ext>
            </a:extLst>
          </p:cNvPr>
          <p:cNvGrpSpPr/>
          <p:nvPr/>
        </p:nvGrpSpPr>
        <p:grpSpPr>
          <a:xfrm>
            <a:off x="480060" y="1353450"/>
            <a:ext cx="3895090" cy="3494775"/>
            <a:chOff x="480060" y="1353450"/>
            <a:chExt cx="3895090" cy="349477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B43E233-147A-DB13-E87E-A3B0E617E838}"/>
                </a:ext>
              </a:extLst>
            </p:cNvPr>
            <p:cNvSpPr txBox="1"/>
            <p:nvPr/>
          </p:nvSpPr>
          <p:spPr>
            <a:xfrm>
              <a:off x="480060" y="1353450"/>
              <a:ext cx="251185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Research Scope Gridding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AE1193D-6042-3356-25FF-CD24D2147C78}"/>
                </a:ext>
              </a:extLst>
            </p:cNvPr>
            <p:cNvSpPr/>
            <p:nvPr/>
          </p:nvSpPr>
          <p:spPr>
            <a:xfrm>
              <a:off x="571500" y="1714500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3C08D7D-1353-2ADB-DE26-176767ACA7EF}"/>
                </a:ext>
              </a:extLst>
            </p:cNvPr>
            <p:cNvSpPr txBox="1"/>
            <p:nvPr/>
          </p:nvSpPr>
          <p:spPr>
            <a:xfrm>
              <a:off x="480060" y="1881436"/>
              <a:ext cx="3463823" cy="240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Yangpu District discretized into 200m x 200m grid units.</a:t>
              </a:r>
            </a:p>
          </p:txBody>
        </p:sp>
        <p:grpSp>
          <p:nvGrpSpPr>
            <p:cNvPr id="16" name="图形 4">
              <a:extLst>
                <a:ext uri="{FF2B5EF4-FFF2-40B4-BE49-F238E27FC236}">
                  <a16:creationId xmlns:a16="http://schemas.microsoft.com/office/drawing/2014/main" id="{E6A60E3B-007A-2355-B631-E085171935D1}"/>
                </a:ext>
              </a:extLst>
            </p:cNvPr>
            <p:cNvGrpSpPr/>
            <p:nvPr/>
          </p:nvGrpSpPr>
          <p:grpSpPr>
            <a:xfrm>
              <a:off x="571500" y="2333625"/>
              <a:ext cx="3803650" cy="514350"/>
              <a:chOff x="571500" y="2333625"/>
              <a:chExt cx="3803650" cy="514350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219CA01B-1FBB-983E-581A-A29CDF32C4DE}"/>
                  </a:ext>
                </a:extLst>
              </p:cNvPr>
              <p:cNvSpPr/>
              <p:nvPr/>
            </p:nvSpPr>
            <p:spPr>
              <a:xfrm>
                <a:off x="571500" y="2333625"/>
                <a:ext cx="380365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>
                <a:solidFill>
                  <a:srgbClr val="E2E8F0"/>
                </a:solidFill>
                <a:prstDash val="solid"/>
                <a:miter/>
              </a:ln>
            </p:spPr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FC87A6BD-61FC-F4F3-BAFE-0F87A7D5CF9D}"/>
                  </a:ext>
                </a:extLst>
              </p:cNvPr>
              <p:cNvSpPr/>
              <p:nvPr/>
            </p:nvSpPr>
            <p:spPr>
              <a:xfrm>
                <a:off x="647700" y="2476500"/>
                <a:ext cx="228600" cy="228600"/>
              </a:xfrm>
              <a:prstGeom prst="ellipse">
                <a:avLst/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F5144FE-316D-F195-165B-8FDC07A4EFD7}"/>
                  </a:ext>
                </a:extLst>
              </p:cNvPr>
              <p:cNvSpPr txBox="1"/>
              <p:nvPr/>
            </p:nvSpPr>
            <p:spPr>
              <a:xfrm>
                <a:off x="622935" y="2479707"/>
                <a:ext cx="246448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74A9308-85B7-C379-1CEA-E32E1B24AF61}"/>
                  </a:ext>
                </a:extLst>
              </p:cNvPr>
              <p:cNvSpPr txBox="1"/>
              <p:nvPr/>
            </p:nvSpPr>
            <p:spPr>
              <a:xfrm>
                <a:off x="937260" y="2387164"/>
                <a:ext cx="1802850" cy="251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200m x 200m Grid Units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A7F438-801A-CF77-0214-C3D17F93E64A}"/>
                  </a:ext>
                </a:extLst>
              </p:cNvPr>
              <p:cNvSpPr txBox="1"/>
              <p:nvPr/>
            </p:nvSpPr>
            <p:spPr>
              <a:xfrm>
                <a:off x="937260" y="2594909"/>
                <a:ext cx="2000108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Total: 2,160 spatial demand grids</a:t>
                </a:r>
              </a:p>
            </p:txBody>
          </p:sp>
        </p:grpSp>
        <p:grpSp>
          <p:nvGrpSpPr>
            <p:cNvPr id="22" name="图形 4">
              <a:extLst>
                <a:ext uri="{FF2B5EF4-FFF2-40B4-BE49-F238E27FC236}">
                  <a16:creationId xmlns:a16="http://schemas.microsoft.com/office/drawing/2014/main" id="{8EA1A133-93F7-FEDE-34D2-5DE16A0A257F}"/>
                </a:ext>
              </a:extLst>
            </p:cNvPr>
            <p:cNvGrpSpPr/>
            <p:nvPr/>
          </p:nvGrpSpPr>
          <p:grpSpPr>
            <a:xfrm>
              <a:off x="571500" y="3000375"/>
              <a:ext cx="3803650" cy="514350"/>
              <a:chOff x="571500" y="3000375"/>
              <a:chExt cx="3803650" cy="51435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86BB0096-5BB3-C87C-8773-F9833E3FCEDC}"/>
                  </a:ext>
                </a:extLst>
              </p:cNvPr>
              <p:cNvSpPr/>
              <p:nvPr/>
            </p:nvSpPr>
            <p:spPr>
              <a:xfrm>
                <a:off x="571500" y="3000375"/>
                <a:ext cx="380365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>
                <a:solidFill>
                  <a:srgbClr val="E2E8F0"/>
                </a:solidFill>
                <a:prstDash val="solid"/>
                <a:miter/>
              </a:ln>
            </p:spPr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E9BDE164-C71E-C3AB-8712-ABCE9F78577D}"/>
                  </a:ext>
                </a:extLst>
              </p:cNvPr>
              <p:cNvSpPr/>
              <p:nvPr/>
            </p:nvSpPr>
            <p:spPr>
              <a:xfrm>
                <a:off x="647700" y="3143250"/>
                <a:ext cx="228600" cy="228600"/>
              </a:xfrm>
              <a:prstGeom prst="ellipse">
                <a:avLst/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DFD2C83-1D63-51D8-F198-2F9B4521F484}"/>
                  </a:ext>
                </a:extLst>
              </p:cNvPr>
              <p:cNvSpPr txBox="1"/>
              <p:nvPr/>
            </p:nvSpPr>
            <p:spPr>
              <a:xfrm>
                <a:off x="622935" y="3146457"/>
                <a:ext cx="246448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480ED23-C4C5-2CF3-F29E-CA7005227E88}"/>
                  </a:ext>
                </a:extLst>
              </p:cNvPr>
              <p:cNvSpPr txBox="1"/>
              <p:nvPr/>
            </p:nvSpPr>
            <p:spPr>
              <a:xfrm>
                <a:off x="937260" y="3053914"/>
                <a:ext cx="2114134" cy="251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Building Height Aggregation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E08EF24-8538-850C-C431-FD05571C5BAB}"/>
                  </a:ext>
                </a:extLst>
              </p:cNvPr>
              <p:cNvSpPr txBox="1"/>
              <p:nvPr/>
            </p:nvSpPr>
            <p:spPr>
              <a:xfrm>
                <a:off x="937260" y="3261659"/>
                <a:ext cx="2938625" cy="242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Max building height per grid as obstacle ref</a:t>
                </a:r>
                <a:r>
                  <a:rPr lang="en-US" altLang="zh-CN" sz="975" spc="0" baseline="0" dirty="0" err="1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erence</a:t>
                </a:r>
                <a:endParaRPr lang="zh-CN" altLang="en-US" sz="975" spc="0" baseline="0" dirty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  <p:grpSp>
          <p:nvGrpSpPr>
            <p:cNvPr id="28" name="图形 4">
              <a:extLst>
                <a:ext uri="{FF2B5EF4-FFF2-40B4-BE49-F238E27FC236}">
                  <a16:creationId xmlns:a16="http://schemas.microsoft.com/office/drawing/2014/main" id="{39040B89-1A37-5C99-1E56-0BAC115004D2}"/>
                </a:ext>
              </a:extLst>
            </p:cNvPr>
            <p:cNvGrpSpPr/>
            <p:nvPr/>
          </p:nvGrpSpPr>
          <p:grpSpPr>
            <a:xfrm>
              <a:off x="571500" y="3667125"/>
              <a:ext cx="3803650" cy="514350"/>
              <a:chOff x="571500" y="3667125"/>
              <a:chExt cx="3803650" cy="514350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EFA4D252-A573-CE04-F2CA-77A373073079}"/>
                  </a:ext>
                </a:extLst>
              </p:cNvPr>
              <p:cNvSpPr/>
              <p:nvPr/>
            </p:nvSpPr>
            <p:spPr>
              <a:xfrm>
                <a:off x="571500" y="3667125"/>
                <a:ext cx="380365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>
                <a:solidFill>
                  <a:srgbClr val="E2E8F0"/>
                </a:solidFill>
                <a:prstDash val="solid"/>
                <a:miter/>
              </a:ln>
            </p:spPr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F3949EE-8864-F411-A0A6-4CA548BCBDD8}"/>
                  </a:ext>
                </a:extLst>
              </p:cNvPr>
              <p:cNvSpPr/>
              <p:nvPr/>
            </p:nvSpPr>
            <p:spPr>
              <a:xfrm>
                <a:off x="647700" y="3810000"/>
                <a:ext cx="228600" cy="228600"/>
              </a:xfrm>
              <a:prstGeom prst="ellipse">
                <a:avLst/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5F94191-E563-E59B-1D86-6891AEBFFB92}"/>
                  </a:ext>
                </a:extLst>
              </p:cNvPr>
              <p:cNvSpPr txBox="1"/>
              <p:nvPr/>
            </p:nvSpPr>
            <p:spPr>
              <a:xfrm>
                <a:off x="622935" y="3813207"/>
                <a:ext cx="246448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4CC0FDC-E6B9-28E8-6208-55BBBBE0723D}"/>
                  </a:ext>
                </a:extLst>
              </p:cNvPr>
              <p:cNvSpPr txBox="1"/>
              <p:nvPr/>
            </p:nvSpPr>
            <p:spPr>
              <a:xfrm>
                <a:off x="937260" y="3720664"/>
                <a:ext cx="1762248" cy="251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Population Distribution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977A412-E30C-DBA3-34FD-C4BBA08CB2D4}"/>
                  </a:ext>
                </a:extLst>
              </p:cNvPr>
              <p:cNvSpPr txBox="1"/>
              <p:nvPr/>
            </p:nvSpPr>
            <p:spPr>
              <a:xfrm>
                <a:off x="937260" y="3928409"/>
                <a:ext cx="2867427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Resident population as demand intensity weights</a:t>
                </a:r>
              </a:p>
            </p:txBody>
          </p:sp>
        </p:grpSp>
        <p:grpSp>
          <p:nvGrpSpPr>
            <p:cNvPr id="34" name="图形 4">
              <a:extLst>
                <a:ext uri="{FF2B5EF4-FFF2-40B4-BE49-F238E27FC236}">
                  <a16:creationId xmlns:a16="http://schemas.microsoft.com/office/drawing/2014/main" id="{24502566-5FC4-B52B-A71F-7D5541AF79BF}"/>
                </a:ext>
              </a:extLst>
            </p:cNvPr>
            <p:cNvGrpSpPr/>
            <p:nvPr/>
          </p:nvGrpSpPr>
          <p:grpSpPr>
            <a:xfrm>
              <a:off x="571500" y="4333875"/>
              <a:ext cx="3803650" cy="514350"/>
              <a:chOff x="571500" y="4333875"/>
              <a:chExt cx="3803650" cy="514350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CAC27FB2-76A2-063A-549D-6F4CD4E6022D}"/>
                  </a:ext>
                </a:extLst>
              </p:cNvPr>
              <p:cNvSpPr/>
              <p:nvPr/>
            </p:nvSpPr>
            <p:spPr>
              <a:xfrm>
                <a:off x="571500" y="4333875"/>
                <a:ext cx="380365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>
                <a:solidFill>
                  <a:srgbClr val="E2E8F0"/>
                </a:solidFill>
                <a:prstDash val="solid"/>
                <a:miter/>
              </a:ln>
            </p:spPr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CFA02C88-CE9D-65A9-3219-2D63CACD365A}"/>
                  </a:ext>
                </a:extLst>
              </p:cNvPr>
              <p:cNvSpPr/>
              <p:nvPr/>
            </p:nvSpPr>
            <p:spPr>
              <a:xfrm>
                <a:off x="647700" y="4476750"/>
                <a:ext cx="228600" cy="228600"/>
              </a:xfrm>
              <a:prstGeom prst="ellipse">
                <a:avLst/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5FA89EC-E2A5-0CDD-8470-D574FE8E4B44}"/>
                  </a:ext>
                </a:extLst>
              </p:cNvPr>
              <p:cNvSpPr txBox="1"/>
              <p:nvPr/>
            </p:nvSpPr>
            <p:spPr>
              <a:xfrm>
                <a:off x="622935" y="4479957"/>
                <a:ext cx="246448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A012EAEF-6F8D-E661-025D-CB47C6B1B40F}"/>
                  </a:ext>
                </a:extLst>
              </p:cNvPr>
              <p:cNvSpPr txBox="1"/>
              <p:nvPr/>
            </p:nvSpPr>
            <p:spPr>
              <a:xfrm>
                <a:off x="937260" y="4387414"/>
                <a:ext cx="1595793" cy="251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No-Fly Zone Marking</a:t>
                </a: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C6D56AA-5818-7A98-27D6-C500772280E4}"/>
                  </a:ext>
                </a:extLst>
              </p:cNvPr>
              <p:cNvSpPr txBox="1"/>
              <p:nvPr/>
            </p:nvSpPr>
            <p:spPr>
              <a:xfrm>
                <a:off x="937260" y="4595159"/>
                <a:ext cx="2344134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Restricted zones tagged as impassable</a:t>
                </a:r>
              </a:p>
            </p:txBody>
          </p:sp>
        </p:grpSp>
      </p:grpSp>
      <p:pic>
        <p:nvPicPr>
          <p:cNvPr id="93" name="图片 92">
            <a:extLst>
              <a:ext uri="{FF2B5EF4-FFF2-40B4-BE49-F238E27FC236}">
                <a16:creationId xmlns:a16="http://schemas.microsoft.com/office/drawing/2014/main" id="{50BE2EAB-9FB3-452C-0652-7333A52D0C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650" y="1825189"/>
            <a:ext cx="3496631" cy="3790950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43839E74-FA9F-246F-817D-829ECF6F34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136" y="1825189"/>
            <a:ext cx="3517489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49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ACFEBBF-4A55-79AC-DB42-E06C7C4D4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8" name="图形 4">
            <a:extLst>
              <a:ext uri="{FF2B5EF4-FFF2-40B4-BE49-F238E27FC236}">
                <a16:creationId xmlns:a16="http://schemas.microsoft.com/office/drawing/2014/main" id="{56EFF6D9-1F65-DC64-F06A-742B073241D3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A5309CA-4E2E-C743-E0D8-22ED8D9CAA45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F586121-4C83-5C1F-A09E-EAA198E6A1D2}"/>
                </a:ext>
              </a:extLst>
            </p:cNvPr>
            <p:cNvSpPr txBox="1"/>
            <p:nvPr/>
          </p:nvSpPr>
          <p:spPr>
            <a:xfrm>
              <a:off x="480060" y="436780"/>
              <a:ext cx="24208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Path Planning</a:t>
              </a:r>
              <a:endParaRPr lang="zh-CN" altLang="en-US" sz="2400" b="1" spc="0" baseline="0" dirty="0">
                <a:ln/>
                <a:solidFill>
                  <a:srgbClr val="FFFFFF"/>
                </a:solidFill>
                <a:latin typeface="Georgia"/>
                <a:sym typeface="Georgia"/>
                <a:rtl val="0"/>
              </a:endParaRPr>
            </a:p>
          </p:txBody>
        </p:sp>
      </p:grpSp>
      <p:grpSp>
        <p:nvGrpSpPr>
          <p:cNvPr id="12" name="图形 4">
            <a:extLst>
              <a:ext uri="{FF2B5EF4-FFF2-40B4-BE49-F238E27FC236}">
                <a16:creationId xmlns:a16="http://schemas.microsoft.com/office/drawing/2014/main" id="{7B08778F-5559-DC8E-288D-07504D62A132}"/>
              </a:ext>
            </a:extLst>
          </p:cNvPr>
          <p:cNvGrpSpPr/>
          <p:nvPr/>
        </p:nvGrpSpPr>
        <p:grpSpPr>
          <a:xfrm>
            <a:off x="480060" y="1305825"/>
            <a:ext cx="5657850" cy="4028175"/>
            <a:chOff x="480060" y="1305825"/>
            <a:chExt cx="5657850" cy="402817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6EA2DB2-ABE3-BF50-D39F-9B888EDC0731}"/>
                </a:ext>
              </a:extLst>
            </p:cNvPr>
            <p:cNvSpPr txBox="1"/>
            <p:nvPr/>
          </p:nvSpPr>
          <p:spPr>
            <a:xfrm>
              <a:off x="480060" y="1305825"/>
              <a:ext cx="2035604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Three Key Upgrades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95EB440-7F4C-6ED7-9FD6-46ED84D10442}"/>
                </a:ext>
              </a:extLst>
            </p:cNvPr>
            <p:cNvSpPr/>
            <p:nvPr/>
          </p:nvSpPr>
          <p:spPr>
            <a:xfrm>
              <a:off x="571500" y="1666875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  <p:grpSp>
          <p:nvGrpSpPr>
            <p:cNvPr id="15" name="图形 4">
              <a:extLst>
                <a:ext uri="{FF2B5EF4-FFF2-40B4-BE49-F238E27FC236}">
                  <a16:creationId xmlns:a16="http://schemas.microsoft.com/office/drawing/2014/main" id="{85FDFE85-DD19-EEDC-2825-72DEA8D3F622}"/>
                </a:ext>
              </a:extLst>
            </p:cNvPr>
            <p:cNvGrpSpPr/>
            <p:nvPr/>
          </p:nvGrpSpPr>
          <p:grpSpPr>
            <a:xfrm>
              <a:off x="571500" y="1905000"/>
              <a:ext cx="5566410" cy="1047750"/>
              <a:chOff x="571500" y="1905000"/>
              <a:chExt cx="5566410" cy="1047750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C75EAB00-0572-9BFD-8C68-79A4752940B2}"/>
                  </a:ext>
                </a:extLst>
              </p:cNvPr>
              <p:cNvSpPr/>
              <p:nvPr/>
            </p:nvSpPr>
            <p:spPr>
              <a:xfrm>
                <a:off x="571500" y="1905000"/>
                <a:ext cx="5334000" cy="1047750"/>
              </a:xfrm>
              <a:prstGeom prst="roundRect">
                <a:avLst>
                  <a:gd name="adj" fmla="val 5454"/>
                </a:avLst>
              </a:prstGeom>
              <a:solidFill>
                <a:srgbClr val="FFFFFF"/>
              </a:solidFill>
              <a:ln w="3175" cap="flat">
                <a:solidFill>
                  <a:srgbClr val="1E3A5F"/>
                </a:solidFill>
                <a:prstDash val="solid"/>
                <a:miter/>
              </a:ln>
            </p:spPr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C888146A-1D65-D5B4-3E5D-A74F9B4DD761}"/>
                  </a:ext>
                </a:extLst>
              </p:cNvPr>
              <p:cNvSpPr/>
              <p:nvPr/>
            </p:nvSpPr>
            <p:spPr>
              <a:xfrm>
                <a:off x="571500" y="190500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D9AC553-AA3E-5BEB-304D-7BF5733D407D}"/>
                  </a:ext>
                </a:extLst>
              </p:cNvPr>
              <p:cNvSpPr txBox="1"/>
              <p:nvPr/>
            </p:nvSpPr>
            <p:spPr>
              <a:xfrm>
                <a:off x="718185" y="1988016"/>
                <a:ext cx="24625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1. Flexible Direction Expansion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E2F74D8-89D5-B190-8DFB-7AB6367FC9AF}"/>
                  </a:ext>
                </a:extLst>
              </p:cNvPr>
              <p:cNvSpPr txBox="1"/>
              <p:nvPr/>
            </p:nvSpPr>
            <p:spPr>
              <a:xfrm>
                <a:off x="718185" y="2233861"/>
                <a:ext cx="541972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T</a:t>
                </a:r>
                <a:r>
                  <a:rPr lang="zh-CN" altLang="en-US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he direct heading angle from current grid to target </a:t>
                </a:r>
                <a:r>
                  <a:rPr lang="en-US" altLang="zh-CN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is added </a:t>
                </a:r>
                <a:r>
                  <a:rPr lang="zh-CN" altLang="en-US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to the candidate set.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1D9483B-91E9-A90C-EE89-0B083C3A0483}"/>
                  </a:ext>
                </a:extLst>
              </p:cNvPr>
              <p:cNvSpPr txBox="1"/>
              <p:nvPr/>
            </p:nvSpPr>
            <p:spPr>
              <a:xfrm>
                <a:off x="718185" y="2487660"/>
                <a:ext cx="3008121" cy="25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Segoe UI Symbol"/>
                    <a:sym typeface="Segoe UI Symbol"/>
                    <a:rtl val="0"/>
                  </a:rPr>
                  <a:t>✓</a:t>
                </a:r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Continuous step lengths yield smooth trajectories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2E0B740-EAEC-61DB-F90D-37388E4D0310}"/>
                  </a:ext>
                </a:extLst>
              </p:cNvPr>
              <p:cNvSpPr txBox="1"/>
              <p:nvPr/>
            </p:nvSpPr>
            <p:spPr>
              <a:xfrm>
                <a:off x="718185" y="2659110"/>
                <a:ext cx="2436881" cy="25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Segoe UI Symbol"/>
                    <a:sym typeface="Segoe UI Symbol"/>
                    <a:rtl val="0"/>
                  </a:rPr>
                  <a:t>✓</a:t>
                </a:r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Eliminates redundant zigzag segments</a:t>
                </a:r>
              </a:p>
            </p:txBody>
          </p:sp>
        </p:grpSp>
        <p:grpSp>
          <p:nvGrpSpPr>
            <p:cNvPr id="22" name="图形 4">
              <a:extLst>
                <a:ext uri="{FF2B5EF4-FFF2-40B4-BE49-F238E27FC236}">
                  <a16:creationId xmlns:a16="http://schemas.microsoft.com/office/drawing/2014/main" id="{A63D40DD-CEBE-4124-16AD-B81AFE14FE41}"/>
                </a:ext>
              </a:extLst>
            </p:cNvPr>
            <p:cNvGrpSpPr/>
            <p:nvPr/>
          </p:nvGrpSpPr>
          <p:grpSpPr>
            <a:xfrm>
              <a:off x="571500" y="3095625"/>
              <a:ext cx="5334000" cy="1047750"/>
              <a:chOff x="571500" y="3095625"/>
              <a:chExt cx="5334000" cy="104775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BB6CA534-E566-FDF1-0A86-9720B9E61619}"/>
                  </a:ext>
                </a:extLst>
              </p:cNvPr>
              <p:cNvSpPr/>
              <p:nvPr/>
            </p:nvSpPr>
            <p:spPr>
              <a:xfrm>
                <a:off x="571500" y="3095625"/>
                <a:ext cx="5334000" cy="1047750"/>
              </a:xfrm>
              <a:prstGeom prst="roundRect">
                <a:avLst>
                  <a:gd name="adj" fmla="val 5454"/>
                </a:avLst>
              </a:prstGeom>
              <a:solidFill>
                <a:srgbClr val="FFFFFF"/>
              </a:solidFill>
              <a:ln w="3175" cap="flat">
                <a:solidFill>
                  <a:srgbClr val="1E3A5F"/>
                </a:solidFill>
                <a:prstDash val="solid"/>
                <a:miter/>
              </a:ln>
            </p:spPr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8C188536-FDBC-84CC-B4D3-0230F3539EF4}"/>
                  </a:ext>
                </a:extLst>
              </p:cNvPr>
              <p:cNvSpPr/>
              <p:nvPr/>
            </p:nvSpPr>
            <p:spPr>
              <a:xfrm>
                <a:off x="571500" y="3095625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843A428-C854-E0E8-AD05-13DC11D823AF}"/>
                  </a:ext>
                </a:extLst>
              </p:cNvPr>
              <p:cNvSpPr txBox="1"/>
              <p:nvPr/>
            </p:nvSpPr>
            <p:spPr>
              <a:xfrm>
                <a:off x="718185" y="3178641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2. Physics-Based Cost Function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1511D44-3B1A-2CBA-3BD1-BD59FB60D05E}"/>
                  </a:ext>
                </a:extLst>
              </p:cNvPr>
              <p:cNvSpPr txBox="1"/>
              <p:nvPr/>
            </p:nvSpPr>
            <p:spPr>
              <a:xfrm>
                <a:off x="718185" y="3424486"/>
                <a:ext cx="51301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Replace</a:t>
                </a:r>
                <a:r>
                  <a:rPr lang="en-US" altLang="zh-CN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d</a:t>
                </a:r>
                <a:r>
                  <a:rPr lang="zh-CN" altLang="en-US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 with real flight time </a:t>
                </a:r>
                <a:r>
                  <a:rPr lang="en-US" altLang="zh-CN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and scan terrain</a:t>
                </a:r>
                <a:r>
                  <a:rPr lang="zh-CN" altLang="en-US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 grid-by-grides.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A99BB9F-C806-5B64-67B9-805D78514D6B}"/>
                  </a:ext>
                </a:extLst>
              </p:cNvPr>
              <p:cNvSpPr txBox="1"/>
              <p:nvPr/>
            </p:nvSpPr>
            <p:spPr>
              <a:xfrm>
                <a:off x="718185" y="3678285"/>
                <a:ext cx="3010298" cy="25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Segoe UI Symbol"/>
                    <a:sym typeface="Segoe UI Symbol"/>
                    <a:rtl val="0"/>
                  </a:rPr>
                  <a:t>✓</a:t>
                </a:r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Two modes: gradient &lt;0.3 (cruise) or ≥0.3 (climb)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D9B7ACE-7DE1-B44C-8A68-779340CCEE4E}"/>
                  </a:ext>
                </a:extLst>
              </p:cNvPr>
              <p:cNvSpPr txBox="1"/>
              <p:nvPr/>
            </p:nvSpPr>
            <p:spPr>
              <a:xfrm>
                <a:off x="718185" y="3849735"/>
                <a:ext cx="2808296" cy="25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Segoe UI Symbol"/>
                    <a:sym typeface="Segoe UI Symbol"/>
                    <a:rtl val="0"/>
                  </a:rPr>
                  <a:t>✓</a:t>
                </a:r>
                <a:r>
                  <a:rPr lang="zh-CN" altLang="en-US" sz="975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Minimizes altitude fluctuation for smooth flight</a:t>
                </a:r>
              </a:p>
            </p:txBody>
          </p:sp>
        </p:grpSp>
        <p:grpSp>
          <p:nvGrpSpPr>
            <p:cNvPr id="29" name="图形 4">
              <a:extLst>
                <a:ext uri="{FF2B5EF4-FFF2-40B4-BE49-F238E27FC236}">
                  <a16:creationId xmlns:a16="http://schemas.microsoft.com/office/drawing/2014/main" id="{BE0CEE41-4A48-10AF-867A-ECB0B3DEFCF3}"/>
                </a:ext>
              </a:extLst>
            </p:cNvPr>
            <p:cNvGrpSpPr/>
            <p:nvPr/>
          </p:nvGrpSpPr>
          <p:grpSpPr>
            <a:xfrm>
              <a:off x="571500" y="4286250"/>
              <a:ext cx="5334000" cy="1047750"/>
              <a:chOff x="571500" y="4286250"/>
              <a:chExt cx="5334000" cy="1047750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2C373CE7-5F23-C493-30A7-AC802D89591B}"/>
                  </a:ext>
                </a:extLst>
              </p:cNvPr>
              <p:cNvSpPr/>
              <p:nvPr/>
            </p:nvSpPr>
            <p:spPr>
              <a:xfrm>
                <a:off x="571500" y="4286250"/>
                <a:ext cx="5334000" cy="1047750"/>
              </a:xfrm>
              <a:prstGeom prst="roundRect">
                <a:avLst>
                  <a:gd name="adj" fmla="val 5454"/>
                </a:avLst>
              </a:prstGeom>
              <a:solidFill>
                <a:srgbClr val="FFFFFF"/>
              </a:solidFill>
              <a:ln w="3175" cap="flat">
                <a:solidFill>
                  <a:srgbClr val="1E3A5F"/>
                </a:solidFill>
                <a:prstDash val="solid"/>
                <a:miter/>
              </a:ln>
            </p:spPr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81454494-2AEC-49ED-6B81-0BB2FC9FD8E8}"/>
                  </a:ext>
                </a:extLst>
              </p:cNvPr>
              <p:cNvSpPr/>
              <p:nvPr/>
            </p:nvSpPr>
            <p:spPr>
              <a:xfrm>
                <a:off x="571500" y="428625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1E3A5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790ECDC-6219-D388-FCB1-B50B7FCDBD07}"/>
                  </a:ext>
                </a:extLst>
              </p:cNvPr>
              <p:cNvSpPr txBox="1"/>
              <p:nvPr/>
            </p:nvSpPr>
            <p:spPr>
              <a:xfrm>
                <a:off x="718185" y="4369266"/>
                <a:ext cx="24336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3. Embedded Hard Constraints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8BD301D-A4B4-6A05-1D4F-383870A6C06A}"/>
                  </a:ext>
                </a:extLst>
              </p:cNvPr>
              <p:cNvSpPr txBox="1"/>
              <p:nvPr/>
            </p:nvSpPr>
            <p:spPr>
              <a:xfrm>
                <a:off x="718185" y="4615111"/>
                <a:ext cx="441819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ln/>
                    <a:solidFill>
                      <a:srgbClr val="475569"/>
                    </a:solidFill>
                    <a:latin typeface="Arial"/>
                    <a:cs typeface="Arial"/>
                    <a:sym typeface="Arial"/>
                    <a:rtl val="0"/>
                  </a:rPr>
                  <a:t>All regulatory and performance limits enforced during node expansion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BA681DD-7012-D0C9-116B-CF3AA9AD21DC}"/>
                  </a:ext>
                </a:extLst>
              </p:cNvPr>
              <p:cNvSpPr txBox="1"/>
              <p:nvPr/>
            </p:nvSpPr>
            <p:spPr>
              <a:xfrm>
                <a:off x="718185" y="4868910"/>
                <a:ext cx="3116105" cy="25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64748B"/>
                    </a:solidFill>
                    <a:latin typeface="Segoe UI Symbol"/>
                    <a:sym typeface="Segoe UI Symbol"/>
                    <a:rtl val="0"/>
                  </a:rPr>
                  <a:t>✓</a:t>
                </a:r>
                <a:r>
                  <a:rPr lang="zh-CN" altLang="en-US" sz="975" spc="0" baseline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Altitude ceiling 115m — path discarded if exceeded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20E5BB6-76A9-10C3-2BA3-109913E7B4E5}"/>
                  </a:ext>
                </a:extLst>
              </p:cNvPr>
              <p:cNvSpPr txBox="1"/>
              <p:nvPr/>
            </p:nvSpPr>
            <p:spPr>
              <a:xfrm>
                <a:off x="718185" y="5040360"/>
                <a:ext cx="3007093" cy="25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64748B"/>
                    </a:solidFill>
                    <a:latin typeface="Segoe UI Symbol"/>
                    <a:sym typeface="Segoe UI Symbol"/>
                    <a:rtl val="0"/>
                  </a:rPr>
                  <a:t>✓</a:t>
                </a:r>
                <a:r>
                  <a:rPr lang="zh-CN" altLang="en-US" sz="975" spc="0" baseline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Single-climb height ≤25m — regulation-compliant</a:t>
                </a:r>
              </a:p>
            </p:txBody>
          </p:sp>
        </p:grpSp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84977141-C25C-9709-CDBB-3B3FB370DD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445" y="1466897"/>
            <a:ext cx="5243830" cy="442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3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B2CB-A6F5-E443-D6C6-6ACA385B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68CF3AB-C2B7-6D39-F9B5-397DA6634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图形 2">
            <a:extLst>
              <a:ext uri="{FF2B5EF4-FFF2-40B4-BE49-F238E27FC236}">
                <a16:creationId xmlns:a16="http://schemas.microsoft.com/office/drawing/2014/main" id="{A9EB980B-354E-1DF0-4C29-8091CA31D420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CDC1FC0-7C39-1686-664F-737122AF7698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3DC53B6-EFA4-E672-CCBE-BC346ABB47E1}"/>
                </a:ext>
              </a:extLst>
            </p:cNvPr>
            <p:cNvSpPr txBox="1"/>
            <p:nvPr/>
          </p:nvSpPr>
          <p:spPr>
            <a:xfrm>
              <a:off x="480060" y="436780"/>
              <a:ext cx="3350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Simulation Analysis</a:t>
              </a:r>
              <a:endParaRPr lang="zh-CN" altLang="en-US" sz="2400" b="1" spc="0" baseline="0" dirty="0">
                <a:ln/>
                <a:solidFill>
                  <a:srgbClr val="FFFFFF"/>
                </a:solidFill>
                <a:latin typeface="Georgia"/>
                <a:sym typeface="Georgia"/>
                <a:rtl val="0"/>
              </a:endParaRPr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F9465A51-7D05-16B4-C407-667AD140D606}"/>
              </a:ext>
            </a:extLst>
          </p:cNvPr>
          <p:cNvSpPr txBox="1"/>
          <p:nvPr/>
        </p:nvSpPr>
        <p:spPr>
          <a:xfrm>
            <a:off x="480060" y="1305825"/>
            <a:ext cx="19143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500" b="1" spc="0" baseline="0" dirty="0">
                <a:ln/>
                <a:solidFill>
                  <a:srgbClr val="1E3A5F"/>
                </a:solidFill>
                <a:latin typeface="Arial"/>
                <a:cs typeface="Arial"/>
                <a:sym typeface="Arial"/>
                <a:rtl val="0"/>
              </a:rPr>
              <a:t>Simulation Results</a:t>
            </a:r>
            <a:endParaRPr lang="zh-CN" altLang="en-US" sz="1500" b="1" spc="0" baseline="0" dirty="0">
              <a:ln/>
              <a:solidFill>
                <a:srgbClr val="1E3A5F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CB4ECA8-FF3A-9FF5-D55A-B1BE5657FE5E}"/>
              </a:ext>
            </a:extLst>
          </p:cNvPr>
          <p:cNvSpPr/>
          <p:nvPr/>
        </p:nvSpPr>
        <p:spPr>
          <a:xfrm>
            <a:off x="571500" y="1666875"/>
            <a:ext cx="381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733A"/>
              </a:gs>
              <a:gs pos="50000">
                <a:srgbClr val="EE8D52"/>
              </a:gs>
              <a:gs pos="100000">
                <a:srgbClr val="F5A86A"/>
              </a:gs>
            </a:gsLst>
            <a:lin ang="0" scaled="1"/>
          </a:gradFill>
          <a:ln w="9525" cap="flat">
            <a:noFill/>
            <a:prstDash val="solid"/>
            <a:miter/>
          </a:ln>
        </p:spPr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ADFD67A3-6457-D4B3-1403-705F38226D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88563"/>
            <a:ext cx="5274310" cy="2613025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2D17E0BD-AE20-11C1-5F9B-52629A321EE8}"/>
              </a:ext>
            </a:extLst>
          </p:cNvPr>
          <p:cNvSpPr txBox="1"/>
          <p:nvPr/>
        </p:nvSpPr>
        <p:spPr>
          <a:xfrm>
            <a:off x="876300" y="1805652"/>
            <a:ext cx="457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n/>
                <a:solidFill>
                  <a:srgbClr val="475569"/>
                </a:solidFill>
                <a:latin typeface="Arial"/>
                <a:cs typeface="Arial"/>
                <a:rtl val="0"/>
              </a:rPr>
              <a:t>Percentage reduction in flight time achieved by our algorithm across segmented travel distance ranges</a:t>
            </a:r>
            <a:endParaRPr lang="zh-CN" altLang="en-US" sz="1200" dirty="0">
              <a:ln/>
              <a:solidFill>
                <a:srgbClr val="475569"/>
              </a:solidFill>
              <a:latin typeface="Arial"/>
              <a:cs typeface="Arial"/>
              <a:sym typeface="Arial"/>
              <a:rtl val="0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34A25779-CE6F-8298-A6BC-A57A9AB41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227307"/>
              </p:ext>
            </p:extLst>
          </p:nvPr>
        </p:nvGraphicFramePr>
        <p:xfrm>
          <a:off x="607059" y="5191125"/>
          <a:ext cx="5238751" cy="621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0347">
                  <a:extLst>
                    <a:ext uri="{9D8B030D-6E8A-4147-A177-3AD203B41FA5}">
                      <a16:colId xmlns:a16="http://schemas.microsoft.com/office/drawing/2014/main" val="2825993267"/>
                    </a:ext>
                  </a:extLst>
                </a:gridCol>
                <a:gridCol w="1684202">
                  <a:extLst>
                    <a:ext uri="{9D8B030D-6E8A-4147-A177-3AD203B41FA5}">
                      <a16:colId xmlns:a16="http://schemas.microsoft.com/office/drawing/2014/main" val="4193516741"/>
                    </a:ext>
                  </a:extLst>
                </a:gridCol>
                <a:gridCol w="1684202">
                  <a:extLst>
                    <a:ext uri="{9D8B030D-6E8A-4147-A177-3AD203B41FA5}">
                      <a16:colId xmlns:a16="http://schemas.microsoft.com/office/drawing/2014/main" val="2944899516"/>
                    </a:ext>
                  </a:extLst>
                </a:gridCol>
              </a:tblGrid>
              <a:tr h="2178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Improved A*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>
                          <a:effectLst/>
                        </a:rPr>
                        <a:t>Conventional A*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8995387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>
                          <a:effectLst/>
                        </a:rPr>
                        <a:t>Average running time (s)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>
                          <a:effectLst/>
                        </a:rPr>
                        <a:t>0.544433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>
                          <a:effectLst/>
                        </a:rPr>
                        <a:t>0.480137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69169193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>
                          <a:effectLst/>
                        </a:rPr>
                        <a:t>Median running time (s)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>
                          <a:effectLst/>
                        </a:rPr>
                        <a:t>0.252000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0.295000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5200336"/>
                  </a:ext>
                </a:extLst>
              </a:tr>
            </a:tbl>
          </a:graphicData>
        </a:graphic>
      </p:graphicFrame>
      <p:pic>
        <p:nvPicPr>
          <p:cNvPr id="68" name="图片 67">
            <a:extLst>
              <a:ext uri="{FF2B5EF4-FFF2-40B4-BE49-F238E27FC236}">
                <a16:creationId xmlns:a16="http://schemas.microsoft.com/office/drawing/2014/main" id="{DF931E2C-FE5B-4A48-9D53-FA4BFBC53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055" y="1666875"/>
            <a:ext cx="42037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7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E9D4-F87F-ADEA-4940-3BEDCA1E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2BE951-A002-B4F0-69F0-44485140296C}"/>
              </a:ext>
            </a:extLst>
          </p:cNvPr>
          <p:cNvSpPr/>
          <p:nvPr/>
        </p:nvSpPr>
        <p:spPr>
          <a:xfrm>
            <a:off x="0" y="17077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图形 2">
            <a:extLst>
              <a:ext uri="{FF2B5EF4-FFF2-40B4-BE49-F238E27FC236}">
                <a16:creationId xmlns:a16="http://schemas.microsoft.com/office/drawing/2014/main" id="{FFEAE612-7EBB-8CAB-BA35-7CE766B3349A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562ED77-1BF5-9289-652A-5B0C03DE5283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8F34056-42B2-CBB2-D47B-11C845B826D2}"/>
                </a:ext>
              </a:extLst>
            </p:cNvPr>
            <p:cNvSpPr txBox="1"/>
            <p:nvPr/>
          </p:nvSpPr>
          <p:spPr>
            <a:xfrm>
              <a:off x="480060" y="436780"/>
              <a:ext cx="36760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400" b="1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V</a:t>
              </a:r>
              <a:r>
                <a:rPr lang="en-US" altLang="zh-CN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ertiport Deployment</a:t>
              </a:r>
              <a:endParaRPr lang="zh-CN" altLang="en-US" sz="2400" b="1" spc="0" baseline="0" dirty="0">
                <a:ln/>
                <a:solidFill>
                  <a:srgbClr val="FFFFFF"/>
                </a:solidFill>
                <a:latin typeface="Georgia"/>
                <a:sym typeface="Georgia"/>
                <a:rtl val="0"/>
              </a:endParaRPr>
            </a:p>
          </p:txBody>
        </p:sp>
      </p:grpSp>
      <p:grpSp>
        <p:nvGrpSpPr>
          <p:cNvPr id="10" name="图形 2">
            <a:extLst>
              <a:ext uri="{FF2B5EF4-FFF2-40B4-BE49-F238E27FC236}">
                <a16:creationId xmlns:a16="http://schemas.microsoft.com/office/drawing/2014/main" id="{8BD4CA95-D318-31C4-8E77-D0BEF6337B58}"/>
              </a:ext>
            </a:extLst>
          </p:cNvPr>
          <p:cNvGrpSpPr/>
          <p:nvPr/>
        </p:nvGrpSpPr>
        <p:grpSpPr>
          <a:xfrm>
            <a:off x="480060" y="1305825"/>
            <a:ext cx="5546711" cy="4325181"/>
            <a:chOff x="480060" y="1305825"/>
            <a:chExt cx="5546711" cy="432518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5F3114-4ACB-ED92-400F-892AEC707FFB}"/>
                </a:ext>
              </a:extLst>
            </p:cNvPr>
            <p:cNvSpPr txBox="1"/>
            <p:nvPr/>
          </p:nvSpPr>
          <p:spPr>
            <a:xfrm>
              <a:off x="480060" y="1305825"/>
              <a:ext cx="2183316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 dirty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The Location Problem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35E2B54-BDCE-DD2F-189A-F037C3D040C1}"/>
                </a:ext>
              </a:extLst>
            </p:cNvPr>
            <p:cNvSpPr/>
            <p:nvPr/>
          </p:nvSpPr>
          <p:spPr>
            <a:xfrm>
              <a:off x="571500" y="1666875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0FA65DE-A20E-DDAB-9471-7207F5ADB30C}"/>
                </a:ext>
              </a:extLst>
            </p:cNvPr>
            <p:cNvSpPr txBox="1"/>
            <p:nvPr/>
          </p:nvSpPr>
          <p:spPr>
            <a:xfrm>
              <a:off x="480060" y="1786186"/>
              <a:ext cx="554671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Select P vertiports from N candidate grids to minimize total population-weighted flight time</a:t>
              </a:r>
            </a:p>
          </p:txBody>
        </p:sp>
        <p:grpSp>
          <p:nvGrpSpPr>
            <p:cNvPr id="14" name="图形 2">
              <a:extLst>
                <a:ext uri="{FF2B5EF4-FFF2-40B4-BE49-F238E27FC236}">
                  <a16:creationId xmlns:a16="http://schemas.microsoft.com/office/drawing/2014/main" id="{3C47AAF0-9610-1FB7-2CF5-DB46E9113AD3}"/>
                </a:ext>
              </a:extLst>
            </p:cNvPr>
            <p:cNvGrpSpPr/>
            <p:nvPr/>
          </p:nvGrpSpPr>
          <p:grpSpPr>
            <a:xfrm>
              <a:off x="571500" y="2238375"/>
              <a:ext cx="5334000" cy="1955628"/>
              <a:chOff x="571500" y="2238375"/>
              <a:chExt cx="5334000" cy="1955628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EC0DAD3C-ACEB-0D62-34E2-2CFE596436A2}"/>
                  </a:ext>
                </a:extLst>
              </p:cNvPr>
              <p:cNvSpPr/>
              <p:nvPr/>
            </p:nvSpPr>
            <p:spPr>
              <a:xfrm>
                <a:off x="571500" y="2238375"/>
                <a:ext cx="5334000" cy="1905000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9525" cap="flat">
                <a:solidFill>
                  <a:srgbClr val="E2E8F0"/>
                </a:solidFill>
                <a:prstDash val="solid"/>
                <a:miter/>
              </a:ln>
            </p:spPr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2CA1B9D-9984-E816-7231-1198E1A3C862}"/>
                  </a:ext>
                </a:extLst>
              </p:cNvPr>
              <p:cNvSpPr txBox="1"/>
              <p:nvPr/>
            </p:nvSpPr>
            <p:spPr>
              <a:xfrm>
                <a:off x="670560" y="2301439"/>
                <a:ext cx="1445593" cy="251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Decision Variables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AF1F891-702B-0891-C631-C0664A4213D6}"/>
                  </a:ext>
                </a:extLst>
              </p:cNvPr>
              <p:cNvSpPr/>
              <p:nvPr/>
            </p:nvSpPr>
            <p:spPr>
              <a:xfrm>
                <a:off x="762000" y="2571750"/>
                <a:ext cx="4953000" cy="9525"/>
              </a:xfrm>
              <a:prstGeom prst="rect">
                <a:avLst/>
              </a:prstGeom>
              <a:solidFill>
                <a:srgbClr val="E2E8F0"/>
              </a:solidFill>
              <a:ln w="9525" cap="flat">
                <a:noFill/>
                <a:prstDash val="solid"/>
                <a:miter/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6E448F46-18F0-548D-666F-2977341EDDC7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60" y="2643436"/>
                    <a:ext cx="777136" cy="2692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</m:ctrlPr>
                            </m:sSubPr>
                            <m:e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US" altLang="zh-CN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{</m:t>
                          </m:r>
                          <m:r>
                            <a:rPr lang="en-US" altLang="zh-CN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0,1</m:t>
                          </m:r>
                          <m:r>
                            <m:rPr>
                              <m:lit/>
                            </m:rPr>
                            <a:rPr lang="en-US" altLang="zh-CN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050" i="1" dirty="0">
                      <a:ln/>
                      <a:solidFill>
                        <a:srgbClr val="475569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6E448F46-18F0-548D-666F-2977341EDD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560" y="2643436"/>
                    <a:ext cx="777136" cy="2692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690E202-5E3E-EDB9-76EB-FADCD106477B}"/>
                  </a:ext>
                </a:extLst>
              </p:cNvPr>
              <p:cNvSpPr txBox="1"/>
              <p:nvPr/>
            </p:nvSpPr>
            <p:spPr>
              <a:xfrm>
                <a:off x="1813560" y="2643436"/>
                <a:ext cx="1524258" cy="240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: 1 if grid j is a vertiport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011F1349-A914-4311-219A-8E9C96857673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60" y="2910136"/>
                    <a:ext cx="807144" cy="2692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</m:ctrlPr>
                            </m:sSubPr>
                            <m:e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zh-CN" altLang="en-US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US" altLang="zh-CN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{</m:t>
                          </m:r>
                          <m:r>
                            <a:rPr lang="en-US" altLang="zh-CN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0,1</m:t>
                          </m:r>
                          <m:r>
                            <m:rPr>
                              <m:lit/>
                            </m:rPr>
                            <a:rPr lang="en-US" altLang="zh-CN" sz="1050" i="1">
                              <a:ln/>
                              <a:solidFill>
                                <a:srgbClr val="475569"/>
                              </a:solidFill>
                              <a:latin typeface="Arial"/>
                              <a:cs typeface="Arial"/>
                              <a:rtl val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050" i="1" dirty="0">
                      <a:ln/>
                      <a:solidFill>
                        <a:srgbClr val="475569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011F1349-A914-4311-219A-8E9C968576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560" y="2910136"/>
                    <a:ext cx="807144" cy="2692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AD7D57D-55C2-2E3E-9AAB-100D35199A91}"/>
                  </a:ext>
                </a:extLst>
              </p:cNvPr>
              <p:cNvSpPr txBox="1"/>
              <p:nvPr/>
            </p:nvSpPr>
            <p:spPr>
              <a:xfrm>
                <a:off x="1813560" y="2910136"/>
                <a:ext cx="2325009" cy="240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: 1 if demand i assigned to vertiport j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A1A217BE-00F9-E685-2FBF-E244AC33793D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60" y="3176836"/>
                    <a:ext cx="529183" cy="2692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</m:ctrlPr>
                            </m:sSubPr>
                            <m:e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050" b="0" i="1" smtClean="0">
                              <a:ln/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  <a:cs typeface="Arial"/>
                              <a:rtl val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</m:ctrlPr>
                            </m:sSubPr>
                            <m:e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050" i="1">
                                  <a:ln/>
                                  <a:solidFill>
                                    <a:srgbClr val="475569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𝑖𝑗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050" i="1" dirty="0">
                      <a:ln/>
                      <a:solidFill>
                        <a:srgbClr val="475569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A1A217BE-00F9-E685-2FBF-E244AC3379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560" y="3176836"/>
                    <a:ext cx="529183" cy="2692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CF236DE-60C3-FB05-3B79-7450A134EA62}"/>
                  </a:ext>
                </a:extLst>
              </p:cNvPr>
              <p:cNvSpPr txBox="1"/>
              <p:nvPr/>
            </p:nvSpPr>
            <p:spPr>
              <a:xfrm>
                <a:off x="1813560" y="3176836"/>
                <a:ext cx="22028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: Population weight </a:t>
                </a:r>
                <a:r>
                  <a:rPr lang="en-US" altLang="zh-CN" sz="1050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and</a:t>
                </a:r>
                <a:r>
                  <a:rPr lang="zh-CN" altLang="en-US" sz="1050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 flight time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8D737102-2084-1D0B-BEAE-417F7EB54592}"/>
                  </a:ext>
                </a:extLst>
              </p:cNvPr>
              <p:cNvSpPr/>
              <p:nvPr/>
            </p:nvSpPr>
            <p:spPr>
              <a:xfrm>
                <a:off x="762000" y="3571875"/>
                <a:ext cx="4953000" cy="9525"/>
              </a:xfrm>
              <a:prstGeom prst="rect">
                <a:avLst/>
              </a:prstGeom>
              <a:solidFill>
                <a:srgbClr val="E2E8F0"/>
              </a:solidFill>
              <a:ln w="9525" cap="flat">
                <a:noFill/>
                <a:prstDash val="solid"/>
                <a:miter/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0C9C8915-CBBA-5D68-4168-A8141203EE22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60" y="3634939"/>
                    <a:ext cx="3465308" cy="5590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1600" b="1" spc="0" baseline="0" dirty="0">
                        <a:ln/>
                        <a:solidFill>
                          <a:srgbClr val="166534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Objective: </a:t>
                    </a:r>
                    <a14:m>
                      <m:oMath xmlns:m="http://schemas.openxmlformats.org/officeDocument/2006/math">
                        <m:eqArr>
                          <m:eqArrPr>
                            <m:ctrlPr>
                              <a:rPr lang="zh-CN" altLang="en-US" sz="1600">
                                <a:ln/>
                                <a:solidFill>
                                  <a:srgbClr val="166534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</m:ctrlPr>
                          </m:eqArrPr>
                          <m:e>
                            <m:r>
                              <a:rPr lang="zh-CN" altLang="en-US" sz="1600" b="0" i="1">
                                <a:ln/>
                                <a:solidFill>
                                  <a:srgbClr val="166534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𝑚𝑖𝑛𝑍</m:t>
                            </m:r>
                            <m:r>
                              <a:rPr lang="en-US" altLang="zh-CN" sz="1600" b="0">
                                <a:ln/>
                                <a:solidFill>
                                  <a:srgbClr val="166534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zh-CN" altLang="en-US" sz="1600" b="0" i="1">
                                    <a:ln/>
                                    <a:solidFill>
                                      <a:srgbClr val="166534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sz="1600" b="0" i="1">
                                    <a:ln/>
                                    <a:solidFill>
                                      <a:srgbClr val="166534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𝑖</m:t>
                                </m:r>
                                <m:r>
                                  <a:rPr lang="en-US" altLang="zh-CN" sz="1600" b="0">
                                    <a:ln/>
                                    <a:solidFill>
                                      <a:srgbClr val="166534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=</m:t>
                                </m:r>
                                <m:r>
                                  <a:rPr lang="en-US" altLang="zh-CN" sz="1600" b="0" i="1">
                                    <a:ln/>
                                    <a:solidFill>
                                      <a:srgbClr val="166534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altLang="en-US" sz="1600" b="0" i="1">
                                    <a:ln/>
                                    <a:solidFill>
                                      <a:srgbClr val="166534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𝑁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en-US" sz="1600" b="0" i="1">
                                        <a:ln/>
                                        <a:solidFill>
                                          <a:srgbClr val="166534"/>
                                        </a:solidFill>
                                        <a:latin typeface="Arial"/>
                                        <a:cs typeface="Arial"/>
                                        <a:rtl val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sz="1600" b="0" i="1">
                                        <a:ln/>
                                        <a:solidFill>
                                          <a:srgbClr val="166534"/>
                                        </a:solidFill>
                                        <a:latin typeface="Arial"/>
                                        <a:cs typeface="Arial"/>
                                        <a:rtl val="0"/>
                                      </a:rPr>
                                      <m:t>𝑗</m:t>
                                    </m:r>
                                    <m:r>
                                      <a:rPr lang="en-US" altLang="zh-CN" sz="1600" b="0">
                                        <a:ln/>
                                        <a:solidFill>
                                          <a:srgbClr val="166534"/>
                                        </a:solidFill>
                                        <a:latin typeface="Arial"/>
                                        <a:cs typeface="Arial"/>
                                        <a:rtl val="0"/>
                                      </a:rPr>
                                      <m:t>=</m:t>
                                    </m:r>
                                    <m:r>
                                      <a:rPr lang="en-US" altLang="zh-CN" sz="1600" b="0" i="1">
                                        <a:ln/>
                                        <a:solidFill>
                                          <a:srgbClr val="166534"/>
                                        </a:solidFill>
                                        <a:latin typeface="Arial"/>
                                        <a:cs typeface="Arial"/>
                                        <a:rtl val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altLang="en-US" sz="1600" b="0" i="1">
                                        <a:ln/>
                                        <a:solidFill>
                                          <a:srgbClr val="166534"/>
                                        </a:solidFill>
                                        <a:latin typeface="Arial"/>
                                        <a:cs typeface="Arial"/>
                                        <a:rtl val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1600" b="0" i="1">
                                            <a:ln/>
                                            <a:solidFill>
                                              <a:srgbClr val="166534"/>
                                            </a:solidFill>
                                            <a:latin typeface="Arial"/>
                                            <a:cs typeface="Arial"/>
                                            <a:rtl val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eqArr>
                      </m:oMath>
                    </a14:m>
                    <a:endParaRPr lang="zh-CN" altLang="zh-CN" sz="1050" dirty="0">
                      <a:ln/>
                      <a:solidFill>
                        <a:srgbClr val="166534"/>
                      </a:solidFill>
                      <a:latin typeface="Arial"/>
                      <a:cs typeface="Arial"/>
                      <a:rtl val="0"/>
                    </a:endParaRPr>
                  </a:p>
                  <a:p>
                    <a:pPr algn="l"/>
                    <a:endParaRPr lang="zh-CN" altLang="en-US" sz="1125" b="1" spc="0" baseline="0" dirty="0">
                      <a:ln/>
                      <a:solidFill>
                        <a:srgbClr val="166534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0C9C8915-CBBA-5D68-4168-A8141203EE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560" y="3634939"/>
                    <a:ext cx="3465308" cy="55906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80" t="-61957" b="-6739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图形 2">
              <a:extLst>
                <a:ext uri="{FF2B5EF4-FFF2-40B4-BE49-F238E27FC236}">
                  <a16:creationId xmlns:a16="http://schemas.microsoft.com/office/drawing/2014/main" id="{C9FE270A-9025-34D7-35C8-4E0D0FA33E9E}"/>
                </a:ext>
              </a:extLst>
            </p:cNvPr>
            <p:cNvGrpSpPr/>
            <p:nvPr/>
          </p:nvGrpSpPr>
          <p:grpSpPr>
            <a:xfrm>
              <a:off x="571500" y="4333875"/>
              <a:ext cx="5334000" cy="1297131"/>
              <a:chOff x="571500" y="4333875"/>
              <a:chExt cx="5334000" cy="1297131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ADF913B5-357C-D025-E435-8972BBC9E3F9}"/>
                  </a:ext>
                </a:extLst>
              </p:cNvPr>
              <p:cNvSpPr/>
              <p:nvPr/>
            </p:nvSpPr>
            <p:spPr>
              <a:xfrm>
                <a:off x="571500" y="4333875"/>
                <a:ext cx="5334000" cy="1218300"/>
              </a:xfrm>
              <a:prstGeom prst="roundRect">
                <a:avLst>
                  <a:gd name="adj" fmla="val 6000"/>
                </a:avLst>
              </a:prstGeom>
              <a:solidFill>
                <a:srgbClr val="FEF3C7"/>
              </a:solidFill>
              <a:ln w="9525" cap="flat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DA722DB-F528-C2E4-615C-9A5B23839BA0}"/>
                  </a:ext>
                </a:extLst>
              </p:cNvPr>
              <p:cNvSpPr txBox="1"/>
              <p:nvPr/>
            </p:nvSpPr>
            <p:spPr>
              <a:xfrm>
                <a:off x="622935" y="4414184"/>
                <a:ext cx="870870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>
                    <a:ln/>
                    <a:solidFill>
                      <a:srgbClr val="92400E"/>
                    </a:solidFill>
                    <a:latin typeface="Arial"/>
                    <a:cs typeface="Arial"/>
                    <a:sym typeface="Arial"/>
                    <a:rtl val="0"/>
                  </a:rPr>
                  <a:t>Constraints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4B96CFB7-D225-FCDC-9ACC-012434F2BF71}"/>
                  </a:ext>
                </a:extLst>
              </p:cNvPr>
              <p:cNvSpPr/>
              <p:nvPr/>
            </p:nvSpPr>
            <p:spPr>
              <a:xfrm>
                <a:off x="714375" y="4667250"/>
                <a:ext cx="5048250" cy="9525"/>
              </a:xfrm>
              <a:prstGeom prst="rect">
                <a:avLst/>
              </a:prstGeom>
              <a:solidFill>
                <a:srgbClr val="F59E0B"/>
              </a:solidFill>
              <a:ln w="9525" cap="flat">
                <a:noFill/>
                <a:prstDash val="solid"/>
                <a:miter/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6B31A67C-C918-EAD2-05E7-22672215860C}"/>
                      </a:ext>
                    </a:extLst>
                  </p:cNvPr>
                  <p:cNvSpPr txBox="1"/>
                  <p:nvPr/>
                </p:nvSpPr>
                <p:spPr>
                  <a:xfrm>
                    <a:off x="622935" y="4699934"/>
                    <a:ext cx="3273717" cy="27135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975" spc="0" baseline="0" dirty="0">
                        <a:ln/>
                        <a:solidFill>
                          <a:srgbClr val="78350F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(1) Every demand assigned to one vertiport: </a:t>
                    </a:r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</m:ctrlPr>
                          </m:naryPr>
                          <m:sub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𝑗</m:t>
                            </m:r>
                            <m:r>
                              <a:rPr lang="en-US" altLang="zh-CN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975">
                                    <a:ln/>
                                    <a:solidFill>
                                      <a:srgbClr val="78350F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975">
                                    <a:ln/>
                                    <a:solidFill>
                                      <a:srgbClr val="78350F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975">
                                    <a:ln/>
                                    <a:solidFill>
                                      <a:srgbClr val="78350F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=1</m:t>
                            </m:r>
                          </m:e>
                        </m:nary>
                      </m:oMath>
                    </a14:m>
                    <a:endParaRPr lang="zh-CN" altLang="en-US" sz="975" dirty="0">
                      <a:ln/>
                      <a:solidFill>
                        <a:srgbClr val="78350F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6B31A67C-C918-EAD2-05E7-2267221586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2935" y="4699934"/>
                    <a:ext cx="3273717" cy="27135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71111" b="-1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21322178-28B4-174F-ABCE-957ACA13DBDE}"/>
                      </a:ext>
                    </a:extLst>
                  </p:cNvPr>
                  <p:cNvSpPr txBox="1"/>
                  <p:nvPr/>
                </p:nvSpPr>
                <p:spPr>
                  <a:xfrm>
                    <a:off x="622935" y="4953000"/>
                    <a:ext cx="2667140" cy="256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975" spc="0" baseline="0" dirty="0">
                        <a:ln/>
                        <a:solidFill>
                          <a:srgbClr val="78350F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(2) Assign only to selected vertiports: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</m:ctrlPr>
                          </m:sSubPr>
                          <m:e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𝑖𝑗</m:t>
                            </m:r>
                          </m:sub>
                        </m:sSub>
                        <m:r>
                          <a:rPr lang="zh-CN" altLang="en-US" sz="975">
                            <a:ln/>
                            <a:solidFill>
                              <a:srgbClr val="78350F"/>
                            </a:solidFill>
                            <a:latin typeface="Arial"/>
                            <a:cs typeface="Arial"/>
                            <a:rtl val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</m:ctrlPr>
                          </m:sSubPr>
                          <m:e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endParaRPr lang="zh-CN" altLang="en-US" sz="975" dirty="0">
                      <a:ln/>
                      <a:solidFill>
                        <a:srgbClr val="78350F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21322178-28B4-174F-ABCE-957ACA13DB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2935" y="4953000"/>
                    <a:ext cx="2667140" cy="25660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F56FEC89-0B92-8862-2CE6-4DCF456D1CE0}"/>
                      </a:ext>
                    </a:extLst>
                  </p:cNvPr>
                  <p:cNvSpPr txBox="1"/>
                  <p:nvPr/>
                </p:nvSpPr>
                <p:spPr>
                  <a:xfrm>
                    <a:off x="622935" y="5209609"/>
                    <a:ext cx="2123274" cy="4213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975" spc="0" baseline="0" dirty="0">
                        <a:ln/>
                        <a:solidFill>
                          <a:srgbClr val="78350F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(3) Exactly P vertiports: </a:t>
                    </a:r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</m:ctrlPr>
                          </m:naryPr>
                          <m:sub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𝑗</m:t>
                            </m:r>
                            <m:r>
                              <a:rPr lang="en-US" altLang="zh-CN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975">
                                    <a:ln/>
                                    <a:solidFill>
                                      <a:srgbClr val="78350F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975">
                                    <a:ln/>
                                    <a:solidFill>
                                      <a:srgbClr val="78350F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975">
                                    <a:ln/>
                                    <a:solidFill>
                                      <a:srgbClr val="78350F"/>
                                    </a:solidFill>
                                    <a:latin typeface="Arial"/>
                                    <a:cs typeface="Arial"/>
                                    <a:rtl val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=</m:t>
                            </m:r>
                            <m:r>
                              <a:rPr lang="zh-CN" altLang="en-US" sz="975">
                                <a:ln/>
                                <a:solidFill>
                                  <a:srgbClr val="78350F"/>
                                </a:solidFill>
                                <a:latin typeface="Arial"/>
                                <a:cs typeface="Arial"/>
                                <a:rtl val="0"/>
                              </a:rPr>
                              <m:t>𝑃</m:t>
                            </m:r>
                          </m:e>
                        </m:nary>
                      </m:oMath>
                    </a14:m>
                    <a:endParaRPr lang="zh-CN" altLang="zh-CN" sz="975" dirty="0">
                      <a:ln/>
                      <a:solidFill>
                        <a:srgbClr val="78350F"/>
                      </a:solidFill>
                      <a:latin typeface="Arial"/>
                      <a:cs typeface="Arial"/>
                      <a:rtl val="0"/>
                    </a:endParaRPr>
                  </a:p>
                  <a:p>
                    <a:pPr algn="l"/>
                    <a:endParaRPr lang="zh-CN" altLang="en-US" sz="975" spc="0" baseline="0" dirty="0">
                      <a:ln/>
                      <a:solidFill>
                        <a:srgbClr val="78350F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F56FEC89-0B92-8862-2CE6-4DCF456D1C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2935" y="5209609"/>
                    <a:ext cx="2123274" cy="42139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46377" b="-376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图形 2">
            <a:extLst>
              <a:ext uri="{FF2B5EF4-FFF2-40B4-BE49-F238E27FC236}">
                <a16:creationId xmlns:a16="http://schemas.microsoft.com/office/drawing/2014/main" id="{42782EB8-A11F-FD9F-0461-6530CB26DFA1}"/>
              </a:ext>
            </a:extLst>
          </p:cNvPr>
          <p:cNvGrpSpPr/>
          <p:nvPr/>
        </p:nvGrpSpPr>
        <p:grpSpPr>
          <a:xfrm>
            <a:off x="5738213" y="1305825"/>
            <a:ext cx="5882287" cy="3267076"/>
            <a:chOff x="5738213" y="1305825"/>
            <a:chExt cx="5882287" cy="3267076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0C419BB-CA6F-999B-307B-735AEC3B6409}"/>
                </a:ext>
              </a:extLst>
            </p:cNvPr>
            <p:cNvSpPr txBox="1"/>
            <p:nvPr/>
          </p:nvSpPr>
          <p:spPr>
            <a:xfrm>
              <a:off x="6195060" y="1305825"/>
              <a:ext cx="2225918" cy="304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ln/>
                  <a:solidFill>
                    <a:srgbClr val="1E3A5F"/>
                  </a:solidFill>
                  <a:latin typeface="Arial"/>
                  <a:cs typeface="Arial"/>
                  <a:sym typeface="Arial"/>
                  <a:rtl val="0"/>
                </a:rPr>
                <a:t>Lagrangian Relaxation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A84F63-DC56-0899-051C-B064028F3264}"/>
                </a:ext>
              </a:extLst>
            </p:cNvPr>
            <p:cNvSpPr/>
            <p:nvPr/>
          </p:nvSpPr>
          <p:spPr>
            <a:xfrm>
              <a:off x="6286500" y="1666875"/>
              <a:ext cx="38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733A"/>
                </a:gs>
                <a:gs pos="50000">
                  <a:srgbClr val="EE8D52"/>
                </a:gs>
                <a:gs pos="100000">
                  <a:srgbClr val="F5A86A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6CC640-CB61-AF81-BAF4-28290EED43C9}"/>
                </a:ext>
              </a:extLst>
            </p:cNvPr>
            <p:cNvSpPr txBox="1"/>
            <p:nvPr/>
          </p:nvSpPr>
          <p:spPr>
            <a:xfrm>
              <a:off x="6195060" y="1786186"/>
              <a:ext cx="397416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Relax the equality constraint into the objective using multipliers</a:t>
              </a:r>
            </a:p>
          </p:txBody>
        </p:sp>
        <p:grpSp>
          <p:nvGrpSpPr>
            <p:cNvPr id="38" name="图形 2">
              <a:extLst>
                <a:ext uri="{FF2B5EF4-FFF2-40B4-BE49-F238E27FC236}">
                  <a16:creationId xmlns:a16="http://schemas.microsoft.com/office/drawing/2014/main" id="{E238AAE9-E29B-AE15-C51F-0008B5FA73DE}"/>
                </a:ext>
              </a:extLst>
            </p:cNvPr>
            <p:cNvGrpSpPr/>
            <p:nvPr/>
          </p:nvGrpSpPr>
          <p:grpSpPr>
            <a:xfrm>
              <a:off x="5738213" y="2238374"/>
              <a:ext cx="5882287" cy="2334527"/>
              <a:chOff x="5738213" y="2238374"/>
              <a:chExt cx="5882287" cy="2334527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EB02D012-C6F6-F5C7-08A1-A7010F93232F}"/>
                  </a:ext>
                </a:extLst>
              </p:cNvPr>
              <p:cNvSpPr/>
              <p:nvPr/>
            </p:nvSpPr>
            <p:spPr>
              <a:xfrm>
                <a:off x="6286500" y="2238374"/>
                <a:ext cx="5334000" cy="2334527"/>
              </a:xfrm>
              <a:prstGeom prst="roundRect">
                <a:avLst>
                  <a:gd name="adj" fmla="val 6000"/>
                </a:avLst>
              </a:prstGeom>
              <a:solidFill>
                <a:schemeClr val="bg1"/>
              </a:solidFill>
              <a:ln w="952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3F45299-BBA8-A179-027C-D8D0C94D5309}"/>
                  </a:ext>
                </a:extLst>
              </p:cNvPr>
              <p:cNvSpPr txBox="1"/>
              <p:nvPr/>
            </p:nvSpPr>
            <p:spPr>
              <a:xfrm>
                <a:off x="6429375" y="2302619"/>
                <a:ext cx="1707519" cy="265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dirty="0">
                    <a:ln/>
                    <a:solidFill>
                      <a:srgbClr val="1E3A5F"/>
                    </a:solidFill>
                    <a:latin typeface="Arial"/>
                    <a:cs typeface="Arial"/>
                    <a:sym typeface="Arial"/>
                    <a:rtl val="0"/>
                  </a:rPr>
                  <a:t>Relaxed Dual Problem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961F464-31AA-4CA9-99F3-EAEC0B9725B6}"/>
                  </a:ext>
                </a:extLst>
              </p:cNvPr>
              <p:cNvSpPr/>
              <p:nvPr/>
            </p:nvSpPr>
            <p:spPr>
              <a:xfrm>
                <a:off x="6477000" y="2584450"/>
                <a:ext cx="4953000" cy="9525"/>
              </a:xfrm>
              <a:prstGeom prst="rect">
                <a:avLst/>
              </a:prstGeom>
              <a:solidFill>
                <a:srgbClr val="E2E8F0"/>
              </a:solidFill>
              <a:ln w="9525" cap="flat">
                <a:noFill/>
                <a:prstDash val="solid"/>
                <a:miter/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E2DC2FC6-B263-2961-A580-BC1AF4304026}"/>
                      </a:ext>
                    </a:extLst>
                  </p:cNvPr>
                  <p:cNvSpPr txBox="1"/>
                  <p:nvPr/>
                </p:nvSpPr>
                <p:spPr>
                  <a:xfrm>
                    <a:off x="5738213" y="3880612"/>
                    <a:ext cx="4793620" cy="6372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eqArr>
                            <m:eqArrPr>
                              <m:ctrlPr>
                                <a:rPr lang="zh-CN" altLang="en-US" sz="1100">
                                  <a:ln/>
                                  <a:solidFill>
                                    <a:srgbClr val="166534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100">
                                  <a:ln/>
                                  <a:solidFill>
                                    <a:srgbClr val="166534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L</m:t>
                              </m:r>
                              <m:d>
                                <m:dPr>
                                  <m:ctrlPr>
                                    <a:rPr lang="en-US" altLang="zh-CN" sz="1100">
                                      <a:ln/>
                                      <a:solidFill>
                                        <a:srgbClr val="166534"/>
                                      </a:solidFill>
                                      <a:latin typeface="Arial"/>
                                      <a:cs typeface="Arial"/>
                                      <a:rtl val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100">
                                      <a:ln/>
                                      <a:solidFill>
                                        <a:srgbClr val="166534"/>
                                      </a:solidFill>
                                      <a:latin typeface="Arial"/>
                                      <a:cs typeface="Arial"/>
                                      <a:rtl val="0"/>
                                    </a:rPr>
                                    <m:t>λ</m:t>
                                  </m:r>
                                </m:e>
                              </m:d>
                              <m:r>
                                <a:rPr lang="en-US" altLang="zh-CN" sz="1100">
                                  <a:ln/>
                                  <a:solidFill>
                                    <a:srgbClr val="166534"/>
                                  </a:solidFill>
                                  <a:latin typeface="Arial"/>
                                  <a:cs typeface="Arial"/>
                                  <a:rtl val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zh-CN" altLang="en-US" sz="1100">
                                      <a:ln/>
                                      <a:solidFill>
                                        <a:srgbClr val="166534"/>
                                      </a:solidFill>
                                      <a:latin typeface="Arial"/>
                                      <a:cs typeface="Arial"/>
                                      <a:rtl val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x</m:t>
                                      </m:r>
                                      <m: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y</m:t>
                                      </m:r>
                                    </m:lim>
                                  </m:limLow>
                                </m:fName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i</m:t>
                                      </m:r>
                                      <m: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N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j</m:t>
                                          </m:r>
                                          <m: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N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t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ij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ij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  <m:r>
                                        <a:rPr lang="en-US" altLang="zh-CN" sz="1100">
                                          <a:ln/>
                                          <a:solidFill>
                                            <a:srgbClr val="166534"/>
                                          </a:solidFill>
                                          <a:latin typeface="Arial"/>
                                          <a:cs typeface="Arial"/>
                                          <a:rtl val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100">
                                              <a:ln/>
                                              <a:solidFill>
                                                <a:srgbClr val="166534"/>
                                              </a:solidFill>
                                              <a:latin typeface="Arial"/>
                                              <a:cs typeface="Arial"/>
                                              <a:rtl val="0"/>
                                            </a:rPr>
                                            <m:t>N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λ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100">
                                                  <a:ln/>
                                                  <a:solidFill>
                                                    <a:srgbClr val="166534"/>
                                                  </a:solidFill>
                                                  <a:latin typeface="Arial"/>
                                                  <a:cs typeface="Arial"/>
                                                  <a:rtl val="0"/>
                                                </a:rPr>
                                                <m:t>1−</m:t>
                                              </m:r>
                                              <m:nary>
                                                <m:naryPr>
                                                  <m:chr m:val="∑"/>
                                                  <m:limLoc m:val="undOvr"/>
                                                  <m:ctrlPr>
                                                    <a:rPr lang="en-US" altLang="zh-CN" sz="1100">
                                                      <a:ln/>
                                                      <a:solidFill>
                                                        <a:srgbClr val="166534"/>
                                                      </a:solidFill>
                                                      <a:latin typeface="Arial"/>
                                                      <a:cs typeface="Arial"/>
                                                      <a:rtl val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CN" sz="1100">
                                                      <a:ln/>
                                                      <a:solidFill>
                                                        <a:srgbClr val="166534"/>
                                                      </a:solidFill>
                                                      <a:latin typeface="Arial"/>
                                                      <a:cs typeface="Arial"/>
                                                      <a:rtl val="0"/>
                                                    </a:rPr>
                                                    <m:t>j</m:t>
                                                  </m:r>
                                                  <m:r>
                                                    <a:rPr lang="en-US" altLang="zh-CN" sz="1100">
                                                      <a:ln/>
                                                      <a:solidFill>
                                                        <a:srgbClr val="166534"/>
                                                      </a:solidFill>
                                                      <a:latin typeface="Arial"/>
                                                      <a:cs typeface="Arial"/>
                                                      <a:rtl val="0"/>
                                                    </a:rPr>
                                                    <m:t>=1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CN" sz="1100">
                                                      <a:ln/>
                                                      <a:solidFill>
                                                        <a:srgbClr val="166534"/>
                                                      </a:solidFill>
                                                      <a:latin typeface="Arial"/>
                                                      <a:cs typeface="Arial"/>
                                                      <a:rtl val="0"/>
                                                    </a:rPr>
                                                    <m:t>N</m:t>
                                                  </m:r>
                                                </m:sup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1100">
                                                          <a:ln/>
                                                          <a:solidFill>
                                                            <a:srgbClr val="166534"/>
                                                          </a:solidFill>
                                                          <a:latin typeface="Arial"/>
                                                          <a:cs typeface="Arial"/>
                                                          <a:rtl val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zh-CN" sz="1100">
                                                          <a:ln/>
                                                          <a:solidFill>
                                                            <a:srgbClr val="166534"/>
                                                          </a:solidFill>
                                                          <a:latin typeface="Arial"/>
                                                          <a:cs typeface="Arial"/>
                                                          <a:rtl val="0"/>
                                                        </a:rPr>
                                                        <m:t>x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zh-CN" sz="1100">
                                                          <a:ln/>
                                                          <a:solidFill>
                                                            <a:srgbClr val="166534"/>
                                                          </a:solidFill>
                                                          <a:latin typeface="Arial"/>
                                                          <a:cs typeface="Arial"/>
                                                          <a:rtl val="0"/>
                                                        </a:rPr>
                                                        <m:t>ij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nary>
                                            </m:e>
                                          </m:d>
                                        </m:e>
                                      </m:nary>
                                    </m:e>
                                  </m:nary>
                                </m:e>
                              </m:func>
                            </m:e>
                          </m:eqArr>
                        </m:oMath>
                      </m:oMathPara>
                    </a14:m>
                    <a:endParaRPr lang="zh-CN" altLang="en-US" sz="1600" dirty="0">
                      <a:ln/>
                      <a:solidFill>
                        <a:srgbClr val="166534"/>
                      </a:solidFill>
                      <a:latin typeface="Arial"/>
                      <a:cs typeface="Arial"/>
                      <a:sym typeface="Arial"/>
                      <a:rtl val="0"/>
                    </a:endParaRPr>
                  </a:p>
                </p:txBody>
              </p:sp>
            </mc:Choice>
            <mc:Fallback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E2DC2FC6-B263-2961-A580-BC1AF43040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8213" y="3880612"/>
                    <a:ext cx="4793620" cy="6372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2F187E7-532E-5ED1-212F-46D5B8ED1A5C}"/>
                  </a:ext>
                </a:extLst>
              </p:cNvPr>
              <p:cNvSpPr txBox="1"/>
              <p:nvPr/>
            </p:nvSpPr>
            <p:spPr>
              <a:xfrm>
                <a:off x="6519317" y="2662486"/>
                <a:ext cx="310533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05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Initialize bounds </m:t>
                      </m:r>
                      <m:r>
                        <m:rPr>
                          <m:nor/>
                        </m:rPr>
                        <a:rPr lang="en-US" altLang="zh-CN" sz="1050" b="0" i="0" smtClean="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CN" sz="105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 algorithm hyperparameters</m:t>
                      </m:r>
                    </m:oMath>
                  </m:oMathPara>
                </a14:m>
                <a:endParaRPr lang="zh-CN" altLang="en-US" sz="1050" dirty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2F187E7-532E-5ED1-212F-46D5B8ED1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17" y="2662486"/>
                <a:ext cx="3105337" cy="253916"/>
              </a:xfrm>
              <a:prstGeom prst="rect">
                <a:avLst/>
              </a:prstGeom>
              <a:blipFill>
                <a:blip r:embed="rId10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5E6CECE5-950C-AA95-041E-8C038ADEF44F}"/>
                  </a:ext>
                </a:extLst>
              </p:cNvPr>
              <p:cNvSpPr txBox="1"/>
              <p:nvPr/>
            </p:nvSpPr>
            <p:spPr>
              <a:xfrm>
                <a:off x="6519317" y="2928310"/>
                <a:ext cx="39100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05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Compute dual lower bound </m:t>
                      </m:r>
                      <m:r>
                        <m:rPr>
                          <m:nor/>
                        </m:rPr>
                        <a:rPr lang="en-US" altLang="zh-CN" sz="1050" b="0" i="0" smtClean="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CN" sz="105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 primal upper bound iteratively</m:t>
                      </m:r>
                    </m:oMath>
                  </m:oMathPara>
                </a14:m>
                <a:endParaRPr lang="zh-CN" altLang="en-US" sz="1050" dirty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5E6CECE5-950C-AA95-041E-8C038ADE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17" y="2928310"/>
                <a:ext cx="3910045" cy="253916"/>
              </a:xfrm>
              <a:prstGeom prst="rect">
                <a:avLst/>
              </a:prstGeom>
              <a:blipFill>
                <a:blip r:embed="rId11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DB06085-A47E-15B4-64A2-E5AA58A3BE31}"/>
                  </a:ext>
                </a:extLst>
              </p:cNvPr>
              <p:cNvSpPr txBox="1"/>
              <p:nvPr/>
            </p:nvSpPr>
            <p:spPr>
              <a:xfrm>
                <a:off x="6517433" y="3199251"/>
                <a:ext cx="350448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050" smtClean="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Smooth subgradient and update Lagrangian multipliers</m:t>
                      </m:r>
                    </m:oMath>
                  </m:oMathPara>
                </a14:m>
                <a:endParaRPr lang="zh-CN" altLang="en-US" sz="1050" dirty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DB06085-A47E-15B4-64A2-E5AA58A3B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433" y="3199251"/>
                <a:ext cx="3504486" cy="253916"/>
              </a:xfrm>
              <a:prstGeom prst="rect">
                <a:avLst/>
              </a:prstGeom>
              <a:blipFill>
                <a:blip r:embed="rId12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4B7430A-89D6-1EC8-CEEC-1BD1527E0E88}"/>
                  </a:ext>
                </a:extLst>
              </p:cNvPr>
              <p:cNvSpPr txBox="1"/>
              <p:nvPr/>
            </p:nvSpPr>
            <p:spPr>
              <a:xfrm>
                <a:off x="6517433" y="3465075"/>
                <a:ext cx="323518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050">
                          <a:ln/>
                          <a:solidFill>
                            <a:srgbClr val="64748B"/>
                          </a:solidFill>
                          <a:latin typeface="Arial"/>
                          <a:cs typeface="Arial"/>
                          <a:rtl val="0"/>
                        </a:rPr>
                        <m:t>Adjust parameters, restart and check convergence</m:t>
                      </m:r>
                    </m:oMath>
                  </m:oMathPara>
                </a14:m>
                <a:endParaRPr lang="zh-CN" altLang="en-US" sz="1050" dirty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4B7430A-89D6-1EC8-CEEC-1BD1527E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433" y="3465075"/>
                <a:ext cx="3235181" cy="253916"/>
              </a:xfrm>
              <a:prstGeom prst="rect">
                <a:avLst/>
              </a:prstGeom>
              <a:blipFill>
                <a:blip r:embed="rId1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>
            <a:extLst>
              <a:ext uri="{FF2B5EF4-FFF2-40B4-BE49-F238E27FC236}">
                <a16:creationId xmlns:a16="http://schemas.microsoft.com/office/drawing/2014/main" id="{2124A82B-41E1-C915-7359-A11BF6CC313A}"/>
              </a:ext>
            </a:extLst>
          </p:cNvPr>
          <p:cNvSpPr/>
          <p:nvPr/>
        </p:nvSpPr>
        <p:spPr>
          <a:xfrm>
            <a:off x="6477000" y="3855516"/>
            <a:ext cx="4953000" cy="9525"/>
          </a:xfrm>
          <a:prstGeom prst="rect">
            <a:avLst/>
          </a:prstGeom>
          <a:solidFill>
            <a:srgbClr val="E2E8F0"/>
          </a:solidFill>
          <a:ln w="9525" cap="flat">
            <a:noFill/>
            <a:prstDash val="solid"/>
            <a:miter/>
          </a:ln>
        </p:spPr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39C94D24-B4C3-E12C-0465-61F401D81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713902"/>
              </p:ext>
            </p:extLst>
          </p:nvPr>
        </p:nvGraphicFramePr>
        <p:xfrm>
          <a:off x="6297822" y="5151678"/>
          <a:ext cx="5411470" cy="640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7292">
                  <a:extLst>
                    <a:ext uri="{9D8B030D-6E8A-4147-A177-3AD203B41FA5}">
                      <a16:colId xmlns:a16="http://schemas.microsoft.com/office/drawing/2014/main" val="1457925881"/>
                    </a:ext>
                  </a:extLst>
                </a:gridCol>
                <a:gridCol w="1772033">
                  <a:extLst>
                    <a:ext uri="{9D8B030D-6E8A-4147-A177-3AD203B41FA5}">
                      <a16:colId xmlns:a16="http://schemas.microsoft.com/office/drawing/2014/main" val="385047058"/>
                    </a:ext>
                  </a:extLst>
                </a:gridCol>
                <a:gridCol w="1922145">
                  <a:extLst>
                    <a:ext uri="{9D8B030D-6E8A-4147-A177-3AD203B41FA5}">
                      <a16:colId xmlns:a16="http://schemas.microsoft.com/office/drawing/2014/main" val="3364494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306070" algn="ctr">
                        <a:buNone/>
                      </a:pPr>
                      <a:r>
                        <a:rPr lang="en-US" altLang="zh-CN" sz="105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Algorithm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6070" algn="ctr">
                        <a:buNone/>
                      </a:pPr>
                      <a:r>
                        <a:rPr lang="en-US" altLang="zh-CN" sz="1050" kern="100" dirty="0">
                          <a:effectLst/>
                        </a:rPr>
                        <a:t>Objective Value(s)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6070" algn="ctr">
                        <a:buNone/>
                      </a:pPr>
                      <a:r>
                        <a:rPr lang="en-US" altLang="zh-CN" sz="105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Computation Time(s)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56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4800" algn="ctr">
                        <a:buNone/>
                      </a:pPr>
                      <a:r>
                        <a:rPr lang="en-US" sz="1050" kern="100" dirty="0">
                          <a:effectLst/>
                        </a:rPr>
                        <a:t>Greedy + Teitz‑Bart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buNone/>
                      </a:pPr>
                      <a:r>
                        <a:rPr lang="en-US" sz="1050" kern="100" dirty="0">
                          <a:effectLst/>
                        </a:rPr>
                        <a:t>98,103,389.99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buNone/>
                      </a:pPr>
                      <a:r>
                        <a:rPr lang="en-US" sz="1050" kern="100">
                          <a:effectLst/>
                        </a:rPr>
                        <a:t>8.9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4450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4800" algn="ctr">
                        <a:buNone/>
                      </a:pPr>
                      <a:r>
                        <a:rPr lang="zh-CN" altLang="zh-CN" sz="1050" dirty="0"/>
                        <a:t>Genetic Algorithm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buNone/>
                      </a:pPr>
                      <a:r>
                        <a:rPr lang="en-US" sz="1050" kern="100">
                          <a:effectLst/>
                        </a:rPr>
                        <a:t>96,883,597.14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buNone/>
                      </a:pPr>
                      <a:r>
                        <a:rPr lang="en-US" sz="1050" kern="100">
                          <a:effectLst/>
                        </a:rPr>
                        <a:t>36.6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4384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6070" algn="ctr">
                        <a:buNone/>
                      </a:pP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6070" algn="ctr">
                        <a:buNone/>
                      </a:pPr>
                      <a:r>
                        <a:rPr lang="en-US" sz="1050" kern="100">
                          <a:effectLst/>
                        </a:rPr>
                        <a:t>96,154,712.49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6070" algn="ctr">
                        <a:buNone/>
                      </a:pPr>
                      <a:r>
                        <a:rPr lang="en-US" sz="1050" kern="100" dirty="0">
                          <a:effectLst/>
                        </a:rPr>
                        <a:t>610.3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448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86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4C70-FD82-4293-1262-5DAB3336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B0A84CA-3754-35A4-5D17-AD037825B1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</p:sp>
      <p:grpSp>
        <p:nvGrpSpPr>
          <p:cNvPr id="6" name="图形 2">
            <a:extLst>
              <a:ext uri="{FF2B5EF4-FFF2-40B4-BE49-F238E27FC236}">
                <a16:creationId xmlns:a16="http://schemas.microsoft.com/office/drawing/2014/main" id="{C627D7A9-E8EB-6B70-F4B3-4DB353066648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C8AEF2-1610-8012-DDC9-05B09F19446F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1DD2BD4-ABE0-D8D1-7A72-47867AB41AE6}"/>
                </a:ext>
              </a:extLst>
            </p:cNvPr>
            <p:cNvSpPr txBox="1"/>
            <p:nvPr/>
          </p:nvSpPr>
          <p:spPr>
            <a:xfrm>
              <a:off x="480060" y="436780"/>
              <a:ext cx="3350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Simulation Analysis</a:t>
              </a:r>
              <a:endParaRPr lang="zh-CN" altLang="en-US" sz="2400" b="1" spc="0" baseline="0" dirty="0">
                <a:ln/>
                <a:solidFill>
                  <a:srgbClr val="FFFFFF"/>
                </a:solidFill>
                <a:latin typeface="Georgia"/>
                <a:sym typeface="Georgia"/>
                <a:rtl val="0"/>
              </a:endParaRPr>
            </a:p>
          </p:txBody>
        </p:sp>
      </p:grpSp>
      <p:grpSp>
        <p:nvGrpSpPr>
          <p:cNvPr id="10" name="图形 2">
            <a:extLst>
              <a:ext uri="{FF2B5EF4-FFF2-40B4-BE49-F238E27FC236}">
                <a16:creationId xmlns:a16="http://schemas.microsoft.com/office/drawing/2014/main" id="{735A7A9E-CB94-4567-6E41-F786955CEB2F}"/>
              </a:ext>
            </a:extLst>
          </p:cNvPr>
          <p:cNvGrpSpPr/>
          <p:nvPr/>
        </p:nvGrpSpPr>
        <p:grpSpPr>
          <a:xfrm>
            <a:off x="571500" y="1238250"/>
            <a:ext cx="10941050" cy="1524000"/>
            <a:chOff x="571500" y="1238250"/>
            <a:chExt cx="11049000" cy="152400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647E6FA-A45D-9BE5-8D2F-5E5A4881C738}"/>
                </a:ext>
              </a:extLst>
            </p:cNvPr>
            <p:cNvSpPr/>
            <p:nvPr/>
          </p:nvSpPr>
          <p:spPr>
            <a:xfrm>
              <a:off x="571500" y="1238250"/>
              <a:ext cx="11049000" cy="1524000"/>
            </a:xfrm>
            <a:prstGeom prst="roundRect">
              <a:avLst>
                <a:gd name="adj" fmla="val 6250"/>
              </a:avLst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grpSp>
          <p:nvGrpSpPr>
            <p:cNvPr id="17" name="图形 2">
              <a:extLst>
                <a:ext uri="{FF2B5EF4-FFF2-40B4-BE49-F238E27FC236}">
                  <a16:creationId xmlns:a16="http://schemas.microsoft.com/office/drawing/2014/main" id="{1BF4FAA6-451E-9063-70CA-8550368370B8}"/>
                </a:ext>
              </a:extLst>
            </p:cNvPr>
            <p:cNvGrpSpPr/>
            <p:nvPr/>
          </p:nvGrpSpPr>
          <p:grpSpPr>
            <a:xfrm>
              <a:off x="1439472" y="1470057"/>
              <a:ext cx="1821332" cy="792652"/>
              <a:chOff x="1439472" y="1470057"/>
              <a:chExt cx="1821332" cy="792652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CE090E3-792D-6E4E-FB6C-9DF4772F2E8B}"/>
                  </a:ext>
                </a:extLst>
              </p:cNvPr>
              <p:cNvSpPr txBox="1"/>
              <p:nvPr/>
            </p:nvSpPr>
            <p:spPr>
              <a:xfrm>
                <a:off x="1439472" y="1470057"/>
                <a:ext cx="1133501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ln/>
                    <a:solidFill>
                      <a:srgbClr val="94A3B8"/>
                    </a:solidFill>
                    <a:latin typeface="Arial"/>
                    <a:cs typeface="Arial"/>
                    <a:sym typeface="Arial"/>
                    <a:rtl val="0"/>
                  </a:rPr>
                  <a:t>OPTIMALITY GAP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F31DD5F-1A5F-17B9-9DB1-125096A0D70E}"/>
                  </a:ext>
                </a:extLst>
              </p:cNvPr>
              <p:cNvSpPr txBox="1"/>
              <p:nvPr/>
            </p:nvSpPr>
            <p:spPr>
              <a:xfrm>
                <a:off x="1439472" y="1557530"/>
                <a:ext cx="18213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000" b="1" dirty="0">
                    <a:ln/>
                    <a:solidFill>
                      <a:srgbClr val="FFFFFF"/>
                    </a:solidFill>
                    <a:latin typeface="Georgia"/>
                    <a:sym typeface="Georgia"/>
                    <a:rtl val="0"/>
                  </a:rPr>
                  <a:t>0.9174%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A19CE98-5861-BAD6-050E-9D5D0D6E1E88}"/>
                  </a:ext>
                </a:extLst>
              </p:cNvPr>
              <p:cNvSpPr txBox="1"/>
              <p:nvPr/>
            </p:nvSpPr>
            <p:spPr>
              <a:xfrm>
                <a:off x="1439472" y="2032934"/>
                <a:ext cx="1345976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CBD5E1"/>
                    </a:solidFill>
                    <a:latin typeface="Arial"/>
                    <a:cs typeface="Arial"/>
                    <a:sym typeface="Arial"/>
                    <a:rtl val="0"/>
                  </a:rPr>
                  <a:t>Near-globally optimal</a:t>
                </a:r>
              </a:p>
            </p:txBody>
          </p:sp>
        </p:grp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B01E09EB-F29F-E63B-BC09-8CD54408B87A}"/>
                </a:ext>
              </a:extLst>
            </p:cNvPr>
            <p:cNvSpPr/>
            <p:nvPr/>
          </p:nvSpPr>
          <p:spPr>
            <a:xfrm>
              <a:off x="3717528" y="1452562"/>
              <a:ext cx="9525" cy="1095375"/>
            </a:xfrm>
            <a:custGeom>
              <a:avLst/>
              <a:gdLst>
                <a:gd name="csX0" fmla="*/ 0 w 9525"/>
                <a:gd name="csY0" fmla="*/ 0 h 1095375"/>
                <a:gd name="csX1" fmla="*/ 0 w 9525"/>
                <a:gd name="csY1" fmla="*/ 1095375 h 109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ln w="9525" cap="flat">
              <a:solidFill>
                <a:srgbClr val="334155"/>
              </a:solidFill>
              <a:prstDash val="solid"/>
              <a:miter/>
            </a:ln>
          </p:spPr>
        </p:sp>
        <p:grpSp>
          <p:nvGrpSpPr>
            <p:cNvPr id="22" name="图形 2">
              <a:extLst>
                <a:ext uri="{FF2B5EF4-FFF2-40B4-BE49-F238E27FC236}">
                  <a16:creationId xmlns:a16="http://schemas.microsoft.com/office/drawing/2014/main" id="{DC87BAB8-B52A-803C-65C5-66010833AA1F}"/>
                </a:ext>
              </a:extLst>
            </p:cNvPr>
            <p:cNvGrpSpPr/>
            <p:nvPr/>
          </p:nvGrpSpPr>
          <p:grpSpPr>
            <a:xfrm>
              <a:off x="5018699" y="1445798"/>
              <a:ext cx="1590756" cy="792652"/>
              <a:chOff x="5018699" y="1445798"/>
              <a:chExt cx="1590756" cy="792652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CB6053E-BB23-BD22-FEC0-A5B802631BD1}"/>
                  </a:ext>
                </a:extLst>
              </p:cNvPr>
              <p:cNvSpPr txBox="1"/>
              <p:nvPr/>
            </p:nvSpPr>
            <p:spPr>
              <a:xfrm>
                <a:off x="5018699" y="1445798"/>
                <a:ext cx="1590756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ln/>
                    <a:solidFill>
                      <a:srgbClr val="94A3B8"/>
                    </a:solidFill>
                    <a:latin typeface="Arial"/>
                    <a:cs typeface="Arial"/>
                    <a:sym typeface="Arial"/>
                    <a:rtl val="0"/>
                  </a:rPr>
                  <a:t>POPULATION COVERAGE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7FE21FB-C0B7-C3AC-836E-CF517A828BD0}"/>
                  </a:ext>
                </a:extLst>
              </p:cNvPr>
              <p:cNvSpPr txBox="1"/>
              <p:nvPr/>
            </p:nvSpPr>
            <p:spPr>
              <a:xfrm>
                <a:off x="5018699" y="1533271"/>
                <a:ext cx="1114171" cy="524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000" b="1" spc="0" baseline="0" dirty="0">
                    <a:ln/>
                    <a:solidFill>
                      <a:srgbClr val="FFFFFF"/>
                    </a:solidFill>
                    <a:latin typeface="Georgia"/>
                    <a:sym typeface="Georgia"/>
                    <a:rtl val="0"/>
                  </a:rPr>
                  <a:t>119K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AE2CA97-E5A7-D544-4940-DEF5AA393DB4}"/>
                  </a:ext>
                </a:extLst>
              </p:cNvPr>
              <p:cNvSpPr txBox="1"/>
              <p:nvPr/>
            </p:nvSpPr>
            <p:spPr>
              <a:xfrm>
                <a:off x="5018699" y="2008675"/>
                <a:ext cx="1428566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CBD5E1"/>
                    </a:solidFill>
                    <a:latin typeface="Arial"/>
                    <a:cs typeface="Arial"/>
                    <a:sym typeface="Arial"/>
                    <a:rtl val="0"/>
                  </a:rPr>
                  <a:t>Residents per vertiport</a:t>
                </a:r>
              </a:p>
            </p:txBody>
          </p:sp>
        </p:grp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4BC376E-11E5-1C09-137B-2760F8268E1F}"/>
                </a:ext>
              </a:extLst>
            </p:cNvPr>
            <p:cNvSpPr/>
            <p:nvPr/>
          </p:nvSpPr>
          <p:spPr>
            <a:xfrm>
              <a:off x="7734148" y="1460987"/>
              <a:ext cx="9525" cy="1095375"/>
            </a:xfrm>
            <a:custGeom>
              <a:avLst/>
              <a:gdLst>
                <a:gd name="csX0" fmla="*/ 0 w 9525"/>
                <a:gd name="csY0" fmla="*/ 0 h 1095375"/>
                <a:gd name="csX1" fmla="*/ 0 w 9525"/>
                <a:gd name="csY1" fmla="*/ 1095375 h 109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ln w="9525" cap="flat">
              <a:solidFill>
                <a:srgbClr val="334155"/>
              </a:solidFill>
              <a:prstDash val="solid"/>
              <a:miter/>
            </a:ln>
          </p:spPr>
        </p:sp>
        <p:grpSp>
          <p:nvGrpSpPr>
            <p:cNvPr id="27" name="图形 2">
              <a:extLst>
                <a:ext uri="{FF2B5EF4-FFF2-40B4-BE49-F238E27FC236}">
                  <a16:creationId xmlns:a16="http://schemas.microsoft.com/office/drawing/2014/main" id="{7AEC3C3F-B891-0CD2-E4F1-8E60E45D985E}"/>
                </a:ext>
              </a:extLst>
            </p:cNvPr>
            <p:cNvGrpSpPr/>
            <p:nvPr/>
          </p:nvGrpSpPr>
          <p:grpSpPr>
            <a:xfrm>
              <a:off x="9028913" y="1470057"/>
              <a:ext cx="1292393" cy="792652"/>
              <a:chOff x="9028913" y="1470057"/>
              <a:chExt cx="1292393" cy="792652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79B1D34-6EE3-C6EB-3610-34AEBD04FDA2}"/>
                  </a:ext>
                </a:extLst>
              </p:cNvPr>
              <p:cNvSpPr txBox="1"/>
              <p:nvPr/>
            </p:nvSpPr>
            <p:spPr>
              <a:xfrm>
                <a:off x="9028913" y="1470057"/>
                <a:ext cx="1146225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ln/>
                    <a:solidFill>
                      <a:srgbClr val="94A3B8"/>
                    </a:solidFill>
                    <a:latin typeface="Arial"/>
                    <a:cs typeface="Arial"/>
                    <a:sym typeface="Arial"/>
                    <a:rtl val="0"/>
                  </a:rPr>
                  <a:t>SERVICE RADIUS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7E2FF34-C6BB-F734-2FC8-00971B4004EE}"/>
                  </a:ext>
                </a:extLst>
              </p:cNvPr>
              <p:cNvSpPr txBox="1"/>
              <p:nvPr/>
            </p:nvSpPr>
            <p:spPr>
              <a:xfrm>
                <a:off x="9028913" y="1557530"/>
                <a:ext cx="1292393" cy="524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000" b="1" spc="0" baseline="0" dirty="0">
                    <a:ln/>
                    <a:solidFill>
                      <a:srgbClr val="FFFFFF"/>
                    </a:solidFill>
                    <a:latin typeface="Georgia"/>
                    <a:sym typeface="Georgia"/>
                    <a:rtl val="0"/>
                  </a:rPr>
                  <a:t>5 min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E30F234-853F-E274-DBCB-B90A9DF23091}"/>
                  </a:ext>
                </a:extLst>
              </p:cNvPr>
              <p:cNvSpPr txBox="1"/>
              <p:nvPr/>
            </p:nvSpPr>
            <p:spPr>
              <a:xfrm>
                <a:off x="9028913" y="2032934"/>
                <a:ext cx="926192" cy="229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spc="0" baseline="0">
                    <a:ln/>
                    <a:solidFill>
                      <a:srgbClr val="CBD5E1"/>
                    </a:solidFill>
                    <a:latin typeface="Arial"/>
                    <a:cs typeface="Arial"/>
                    <a:sym typeface="Arial"/>
                    <a:rtl val="0"/>
                  </a:rPr>
                  <a:t>Full coverage</a:t>
                </a:r>
              </a:p>
            </p:txBody>
          </p:sp>
        </p:grpSp>
      </p:grpSp>
      <p:pic>
        <p:nvPicPr>
          <p:cNvPr id="65" name="图片 64" descr="IMG_256">
            <a:extLst>
              <a:ext uri="{FF2B5EF4-FFF2-40B4-BE49-F238E27FC236}">
                <a16:creationId xmlns:a16="http://schemas.microsoft.com/office/drawing/2014/main" id="{0FA69666-BA68-77E6-7F2A-DCC7CEC51E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854" y="2849723"/>
            <a:ext cx="3056016" cy="379694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D44FB797-9FFA-B594-20C5-6E83FA73B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891" y="3179166"/>
            <a:ext cx="5270269" cy="313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9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27E33-490C-EA38-B27D-2436155E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0BB4A6C-E998-B699-B59F-C811DFFF76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9525" cap="flat">
            <a:noFill/>
            <a:prstDash val="solid"/>
            <a:miter/>
          </a:ln>
        </p:spPr>
      </p:sp>
      <p:grpSp>
        <p:nvGrpSpPr>
          <p:cNvPr id="6" name="图形 2">
            <a:extLst>
              <a:ext uri="{FF2B5EF4-FFF2-40B4-BE49-F238E27FC236}">
                <a16:creationId xmlns:a16="http://schemas.microsoft.com/office/drawing/2014/main" id="{BF110780-1284-543E-5074-358D7D231129}"/>
              </a:ext>
            </a:extLst>
          </p:cNvPr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D51D6F4-EB59-E00B-2965-C8F07C37DA34}"/>
                </a:ext>
              </a:extLst>
            </p:cNvPr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E3A5F"/>
            </a:solidFill>
            <a:ln w="9525" cap="flat">
              <a:noFill/>
              <a:prstDash val="solid"/>
              <a:miter/>
            </a:ln>
          </p:spPr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6753FC6-3FEB-1433-C84C-8F93F798A69E}"/>
                </a:ext>
              </a:extLst>
            </p:cNvPr>
            <p:cNvSpPr txBox="1"/>
            <p:nvPr/>
          </p:nvSpPr>
          <p:spPr>
            <a:xfrm>
              <a:off x="480060" y="436780"/>
              <a:ext cx="17347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Summary</a:t>
              </a:r>
            </a:p>
          </p:txBody>
        </p:sp>
      </p:grpSp>
      <p:grpSp>
        <p:nvGrpSpPr>
          <p:cNvPr id="34" name="图形 2">
            <a:extLst>
              <a:ext uri="{FF2B5EF4-FFF2-40B4-BE49-F238E27FC236}">
                <a16:creationId xmlns:a16="http://schemas.microsoft.com/office/drawing/2014/main" id="{091A4819-0EB0-60FC-5574-24246BE3A9DE}"/>
              </a:ext>
            </a:extLst>
          </p:cNvPr>
          <p:cNvGrpSpPr/>
          <p:nvPr/>
        </p:nvGrpSpPr>
        <p:grpSpPr>
          <a:xfrm>
            <a:off x="571500" y="1264704"/>
            <a:ext cx="11049000" cy="1991666"/>
            <a:chOff x="571500" y="2579154"/>
            <a:chExt cx="11049000" cy="1991666"/>
          </a:xfrm>
        </p:grpSpPr>
        <p:grpSp>
          <p:nvGrpSpPr>
            <p:cNvPr id="37" name="图形 2">
              <a:extLst>
                <a:ext uri="{FF2B5EF4-FFF2-40B4-BE49-F238E27FC236}">
                  <a16:creationId xmlns:a16="http://schemas.microsoft.com/office/drawing/2014/main" id="{9F79A2E8-F765-FB72-2C88-16BA0171289D}"/>
                </a:ext>
              </a:extLst>
            </p:cNvPr>
            <p:cNvGrpSpPr/>
            <p:nvPr/>
          </p:nvGrpSpPr>
          <p:grpSpPr>
            <a:xfrm>
              <a:off x="1642074" y="3898786"/>
              <a:ext cx="9175151" cy="672034"/>
              <a:chOff x="1642074" y="3898786"/>
              <a:chExt cx="9175151" cy="672034"/>
            </a:xfrm>
          </p:grpSpPr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A60421E2-BC29-3A6E-8D3B-E205D182270B}"/>
                  </a:ext>
                </a:extLst>
              </p:cNvPr>
              <p:cNvSpPr/>
              <p:nvPr/>
            </p:nvSpPr>
            <p:spPr>
              <a:xfrm>
                <a:off x="3642324" y="4142195"/>
                <a:ext cx="428625" cy="190500"/>
              </a:xfrm>
              <a:custGeom>
                <a:avLst/>
                <a:gdLst>
                  <a:gd name="csX0" fmla="*/ 270 w 428625"/>
                  <a:gd name="csY0" fmla="*/ 48115 h 190500"/>
                  <a:gd name="csX1" fmla="*/ 286020 w 428625"/>
                  <a:gd name="csY1" fmla="*/ 48115 h 190500"/>
                  <a:gd name="csX2" fmla="*/ 286020 w 428625"/>
                  <a:gd name="csY2" fmla="*/ 490 h 190500"/>
                  <a:gd name="csX3" fmla="*/ 428895 w 428625"/>
                  <a:gd name="csY3" fmla="*/ 95740 h 190500"/>
                  <a:gd name="csX4" fmla="*/ 286020 w 428625"/>
                  <a:gd name="csY4" fmla="*/ 190990 h 190500"/>
                  <a:gd name="csX5" fmla="*/ 286020 w 428625"/>
                  <a:gd name="csY5" fmla="*/ 143365 h 190500"/>
                  <a:gd name="csX6" fmla="*/ 270 w 428625"/>
                  <a:gd name="csY6" fmla="*/ 143365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28625" h="190500">
                    <a:moveTo>
                      <a:pt x="270" y="48115"/>
                    </a:moveTo>
                    <a:lnTo>
                      <a:pt x="286020" y="48115"/>
                    </a:lnTo>
                    <a:lnTo>
                      <a:pt x="286020" y="490"/>
                    </a:lnTo>
                    <a:lnTo>
                      <a:pt x="428895" y="95740"/>
                    </a:lnTo>
                    <a:lnTo>
                      <a:pt x="286020" y="190990"/>
                    </a:lnTo>
                    <a:lnTo>
                      <a:pt x="286020" y="143365"/>
                    </a:lnTo>
                    <a:lnTo>
                      <a:pt x="270" y="143365"/>
                    </a:lnTo>
                    <a:close/>
                  </a:path>
                </a:pathLst>
              </a:custGeom>
              <a:solidFill>
                <a:srgbClr val="94A3B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2082FDFA-CAE0-44F5-A0A2-7E7750A09C4B}"/>
                  </a:ext>
                </a:extLst>
              </p:cNvPr>
              <p:cNvSpPr/>
              <p:nvPr/>
            </p:nvSpPr>
            <p:spPr>
              <a:xfrm>
                <a:off x="6071199" y="4142195"/>
                <a:ext cx="428625" cy="190500"/>
              </a:xfrm>
              <a:custGeom>
                <a:avLst/>
                <a:gdLst>
                  <a:gd name="csX0" fmla="*/ 525 w 428625"/>
                  <a:gd name="csY0" fmla="*/ 48115 h 190500"/>
                  <a:gd name="csX1" fmla="*/ 286275 w 428625"/>
                  <a:gd name="csY1" fmla="*/ 48115 h 190500"/>
                  <a:gd name="csX2" fmla="*/ 286275 w 428625"/>
                  <a:gd name="csY2" fmla="*/ 490 h 190500"/>
                  <a:gd name="csX3" fmla="*/ 429150 w 428625"/>
                  <a:gd name="csY3" fmla="*/ 95740 h 190500"/>
                  <a:gd name="csX4" fmla="*/ 286275 w 428625"/>
                  <a:gd name="csY4" fmla="*/ 190990 h 190500"/>
                  <a:gd name="csX5" fmla="*/ 286275 w 428625"/>
                  <a:gd name="csY5" fmla="*/ 143365 h 190500"/>
                  <a:gd name="csX6" fmla="*/ 525 w 428625"/>
                  <a:gd name="csY6" fmla="*/ 143365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28625" h="190500">
                    <a:moveTo>
                      <a:pt x="525" y="48115"/>
                    </a:moveTo>
                    <a:lnTo>
                      <a:pt x="286275" y="48115"/>
                    </a:lnTo>
                    <a:lnTo>
                      <a:pt x="286275" y="490"/>
                    </a:lnTo>
                    <a:lnTo>
                      <a:pt x="429150" y="95740"/>
                    </a:lnTo>
                    <a:lnTo>
                      <a:pt x="286275" y="190990"/>
                    </a:lnTo>
                    <a:lnTo>
                      <a:pt x="286275" y="143365"/>
                    </a:lnTo>
                    <a:lnTo>
                      <a:pt x="525" y="143365"/>
                    </a:lnTo>
                    <a:close/>
                  </a:path>
                </a:pathLst>
              </a:custGeom>
              <a:solidFill>
                <a:srgbClr val="94A3B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742261DD-35A1-4F44-A64E-7FC54507FB30}"/>
                  </a:ext>
                </a:extLst>
              </p:cNvPr>
              <p:cNvSpPr/>
              <p:nvPr/>
            </p:nvSpPr>
            <p:spPr>
              <a:xfrm>
                <a:off x="8500074" y="4142195"/>
                <a:ext cx="428625" cy="190500"/>
              </a:xfrm>
              <a:custGeom>
                <a:avLst/>
                <a:gdLst>
                  <a:gd name="csX0" fmla="*/ 780 w 428625"/>
                  <a:gd name="csY0" fmla="*/ 48115 h 190500"/>
                  <a:gd name="csX1" fmla="*/ 286530 w 428625"/>
                  <a:gd name="csY1" fmla="*/ 48115 h 190500"/>
                  <a:gd name="csX2" fmla="*/ 286530 w 428625"/>
                  <a:gd name="csY2" fmla="*/ 490 h 190500"/>
                  <a:gd name="csX3" fmla="*/ 429405 w 428625"/>
                  <a:gd name="csY3" fmla="*/ 95740 h 190500"/>
                  <a:gd name="csX4" fmla="*/ 286530 w 428625"/>
                  <a:gd name="csY4" fmla="*/ 190990 h 190500"/>
                  <a:gd name="csX5" fmla="*/ 286530 w 428625"/>
                  <a:gd name="csY5" fmla="*/ 143365 h 190500"/>
                  <a:gd name="csX6" fmla="*/ 780 w 428625"/>
                  <a:gd name="csY6" fmla="*/ 143365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28625" h="190500">
                    <a:moveTo>
                      <a:pt x="780" y="48115"/>
                    </a:moveTo>
                    <a:lnTo>
                      <a:pt x="286530" y="48115"/>
                    </a:lnTo>
                    <a:lnTo>
                      <a:pt x="286530" y="490"/>
                    </a:lnTo>
                    <a:lnTo>
                      <a:pt x="429405" y="95740"/>
                    </a:lnTo>
                    <a:lnTo>
                      <a:pt x="286530" y="190990"/>
                    </a:lnTo>
                    <a:lnTo>
                      <a:pt x="286530" y="143365"/>
                    </a:lnTo>
                    <a:lnTo>
                      <a:pt x="780" y="143365"/>
                    </a:lnTo>
                    <a:close/>
                  </a:path>
                </a:pathLst>
              </a:custGeom>
              <a:solidFill>
                <a:srgbClr val="94A3B8"/>
              </a:solidFill>
              <a:ln w="9525" cap="flat">
                <a:noFill/>
                <a:prstDash val="solid"/>
                <a:miter/>
              </a:ln>
            </p:spPr>
          </p:sp>
          <p:grpSp>
            <p:nvGrpSpPr>
              <p:cNvPr id="38" name="图形 2">
                <a:extLst>
                  <a:ext uri="{FF2B5EF4-FFF2-40B4-BE49-F238E27FC236}">
                    <a16:creationId xmlns:a16="http://schemas.microsoft.com/office/drawing/2014/main" id="{C177ACFD-CEF5-47B7-667A-800D019B505B}"/>
                  </a:ext>
                </a:extLst>
              </p:cNvPr>
              <p:cNvGrpSpPr/>
              <p:nvPr/>
            </p:nvGrpSpPr>
            <p:grpSpPr>
              <a:xfrm>
                <a:off x="1642074" y="3904070"/>
                <a:ext cx="1905000" cy="666750"/>
                <a:chOff x="1642074" y="3904070"/>
                <a:chExt cx="1905000" cy="666750"/>
              </a:xfrm>
            </p:grpSpPr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DB794A32-126A-8CFB-498E-41865F829F62}"/>
                    </a:ext>
                  </a:extLst>
                </p:cNvPr>
                <p:cNvSpPr/>
                <p:nvPr/>
              </p:nvSpPr>
              <p:spPr>
                <a:xfrm>
                  <a:off x="1642074" y="3904070"/>
                  <a:ext cx="1905000" cy="666750"/>
                </a:xfrm>
                <a:prstGeom prst="roundRect">
                  <a:avLst>
                    <a:gd name="adj" fmla="val 8571"/>
                  </a:avLst>
                </a:prstGeom>
                <a:solidFill>
                  <a:srgbClr val="F8FAFC"/>
                </a:solidFill>
                <a:ln w="9525" cap="flat">
                  <a:solidFill>
                    <a:srgbClr val="CBD5E1"/>
                  </a:solidFill>
                  <a:prstDash val="solid"/>
                  <a:miter/>
                </a:ln>
              </p:spPr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D53F4C5-CDF3-F6AA-A211-9A2649764BE8}"/>
                    </a:ext>
                  </a:extLst>
                </p:cNvPr>
                <p:cNvSpPr txBox="1"/>
                <p:nvPr/>
              </p:nvSpPr>
              <p:spPr>
                <a:xfrm>
                  <a:off x="1741134" y="4012954"/>
                  <a:ext cx="1304597" cy="2423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975" b="1" spc="0" baseline="0" dirty="0">
                      <a:ln/>
                      <a:solidFill>
                        <a:srgbClr val="1E3A5F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Spatial Gridding</a:t>
                  </a:r>
                </a:p>
              </p:txBody>
            </p:sp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87639551-D459-5E55-8E36-92B731C0BA25}"/>
                    </a:ext>
                  </a:extLst>
                </p:cNvPr>
                <p:cNvSpPr txBox="1"/>
                <p:nvPr/>
              </p:nvSpPr>
              <p:spPr>
                <a:xfrm>
                  <a:off x="1741134" y="4231127"/>
                  <a:ext cx="1135789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900" spc="0" baseline="0" dirty="0">
                      <a:ln/>
                      <a:solidFill>
                        <a:srgbClr val="64748B"/>
                      </a:solidFill>
                      <a:latin typeface="Arial"/>
                      <a:cs typeface="Arial"/>
                      <a:sym typeface="Arial"/>
                      <a:rtl val="0"/>
                    </a:rPr>
                    <a:t>200m x 200m cells</a:t>
                  </a:r>
                </a:p>
              </p:txBody>
            </p:sp>
          </p:grpSp>
          <p:grpSp>
            <p:nvGrpSpPr>
              <p:cNvPr id="44" name="图形 2">
                <a:extLst>
                  <a:ext uri="{FF2B5EF4-FFF2-40B4-BE49-F238E27FC236}">
                    <a16:creationId xmlns:a16="http://schemas.microsoft.com/office/drawing/2014/main" id="{96088210-C6AE-78FC-802D-F82FE433297A}"/>
                  </a:ext>
                </a:extLst>
              </p:cNvPr>
              <p:cNvGrpSpPr/>
              <p:nvPr/>
            </p:nvGrpSpPr>
            <p:grpSpPr>
              <a:xfrm>
                <a:off x="4070949" y="3904070"/>
                <a:ext cx="1905000" cy="666750"/>
                <a:chOff x="4070949" y="3904070"/>
                <a:chExt cx="1905000" cy="666750"/>
              </a:xfrm>
            </p:grpSpPr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77C925E1-21C2-0ECA-3717-AB927155C9AC}"/>
                    </a:ext>
                  </a:extLst>
                </p:cNvPr>
                <p:cNvSpPr/>
                <p:nvPr/>
              </p:nvSpPr>
              <p:spPr>
                <a:xfrm>
                  <a:off x="4070949" y="3904070"/>
                  <a:ext cx="1905000" cy="666750"/>
                </a:xfrm>
                <a:prstGeom prst="roundRect">
                  <a:avLst>
                    <a:gd name="adj" fmla="val 8571"/>
                  </a:avLst>
                </a:prstGeom>
                <a:solidFill>
                  <a:srgbClr val="F8FAFC"/>
                </a:solidFill>
                <a:ln w="9525" cap="flat">
                  <a:solidFill>
                    <a:srgbClr val="CBD5E1"/>
                  </a:solidFill>
                  <a:prstDash val="solid"/>
                  <a:miter/>
                </a:ln>
              </p:spPr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AD704BC-47FB-FAB9-82D3-2C4DAA293E18}"/>
                    </a:ext>
                  </a:extLst>
                </p:cNvPr>
                <p:cNvSpPr txBox="1"/>
                <p:nvPr/>
              </p:nvSpPr>
              <p:spPr>
                <a:xfrm>
                  <a:off x="4170009" y="4012954"/>
                  <a:ext cx="1201110" cy="229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75" b="1" spc="0" baseline="0">
                      <a:ln/>
                      <a:solidFill>
                        <a:srgbClr val="1E3A5F"/>
                      </a:solidFill>
                      <a:latin typeface="Arial"/>
                      <a:cs typeface="Arial"/>
                      <a:sym typeface="Arial"/>
                      <a:rtl val="0"/>
                    </a:rPr>
                    <a:t>3D Path Planning</a:t>
                  </a: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29DED414-1B38-E647-6B33-0A1D71F9CA8F}"/>
                    </a:ext>
                  </a:extLst>
                </p:cNvPr>
                <p:cNvSpPr txBox="1"/>
                <p:nvPr/>
              </p:nvSpPr>
              <p:spPr>
                <a:xfrm>
                  <a:off x="4170009" y="4231127"/>
                  <a:ext cx="1307350" cy="2191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>
                      <a:ln/>
                      <a:solidFill>
                        <a:srgbClr val="64748B"/>
                      </a:solidFill>
                      <a:latin typeface="Arial"/>
                      <a:cs typeface="Arial"/>
                      <a:sym typeface="Arial"/>
                      <a:rtl val="0"/>
                    </a:rPr>
                    <a:t>Improved A* algorithm</a:t>
                  </a:r>
                </a:p>
              </p:txBody>
            </p:sp>
          </p:grpSp>
          <p:grpSp>
            <p:nvGrpSpPr>
              <p:cNvPr id="50" name="图形 2">
                <a:extLst>
                  <a:ext uri="{FF2B5EF4-FFF2-40B4-BE49-F238E27FC236}">
                    <a16:creationId xmlns:a16="http://schemas.microsoft.com/office/drawing/2014/main" id="{D3780B38-4E5E-E974-5897-9BEAFB0F7F14}"/>
                  </a:ext>
                </a:extLst>
              </p:cNvPr>
              <p:cNvGrpSpPr/>
              <p:nvPr/>
            </p:nvGrpSpPr>
            <p:grpSpPr>
              <a:xfrm>
                <a:off x="6499824" y="3904070"/>
                <a:ext cx="1905000" cy="666750"/>
                <a:chOff x="6499824" y="3904070"/>
                <a:chExt cx="1905000" cy="666750"/>
              </a:xfrm>
            </p:grpSpPr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1EC8F2CA-0B30-4484-C212-7C4DDF40386B}"/>
                    </a:ext>
                  </a:extLst>
                </p:cNvPr>
                <p:cNvSpPr/>
                <p:nvPr/>
              </p:nvSpPr>
              <p:spPr>
                <a:xfrm>
                  <a:off x="6499824" y="3904070"/>
                  <a:ext cx="1905000" cy="666750"/>
                </a:xfrm>
                <a:prstGeom prst="roundRect">
                  <a:avLst>
                    <a:gd name="adj" fmla="val 8571"/>
                  </a:avLst>
                </a:prstGeom>
                <a:solidFill>
                  <a:srgbClr val="F8FAFC"/>
                </a:solidFill>
                <a:ln w="9525" cap="flat">
                  <a:solidFill>
                    <a:srgbClr val="CBD5E1"/>
                  </a:solidFill>
                  <a:prstDash val="solid"/>
                  <a:miter/>
                </a:ln>
              </p:spPr>
            </p:sp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C1178511-2BFB-22B5-27FC-62D678FDFD18}"/>
                    </a:ext>
                  </a:extLst>
                </p:cNvPr>
                <p:cNvSpPr txBox="1"/>
                <p:nvPr/>
              </p:nvSpPr>
              <p:spPr>
                <a:xfrm>
                  <a:off x="6598884" y="4012954"/>
                  <a:ext cx="1435096" cy="229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75" b="1" spc="0" baseline="0">
                      <a:ln/>
                      <a:solidFill>
                        <a:srgbClr val="1E3A5F"/>
                      </a:solidFill>
                      <a:latin typeface="Arial"/>
                      <a:cs typeface="Arial"/>
                      <a:sym typeface="Arial"/>
                      <a:rtl val="0"/>
                    </a:rPr>
                    <a:t>Vertiport Deployment</a:t>
                  </a:r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9B1EB83-443E-323D-AC51-A4B8C7BA1A49}"/>
                    </a:ext>
                  </a:extLst>
                </p:cNvPr>
                <p:cNvSpPr txBox="1"/>
                <p:nvPr/>
              </p:nvSpPr>
              <p:spPr>
                <a:xfrm>
                  <a:off x="6598884" y="4231127"/>
                  <a:ext cx="1374323" cy="2191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>
                      <a:ln/>
                      <a:solidFill>
                        <a:srgbClr val="64748B"/>
                      </a:solidFill>
                      <a:latin typeface="Arial"/>
                      <a:cs typeface="Arial"/>
                      <a:sym typeface="Arial"/>
                      <a:rtl val="0"/>
                    </a:rPr>
                    <a:t>P-Median + Lagrangian</a:t>
                  </a:r>
                </a:p>
              </p:txBody>
            </p:sp>
          </p:grpSp>
          <p:grpSp>
            <p:nvGrpSpPr>
              <p:cNvPr id="56" name="图形 2">
                <a:extLst>
                  <a:ext uri="{FF2B5EF4-FFF2-40B4-BE49-F238E27FC236}">
                    <a16:creationId xmlns:a16="http://schemas.microsoft.com/office/drawing/2014/main" id="{F1735477-AAE8-9D61-BCFA-267C80684231}"/>
                  </a:ext>
                </a:extLst>
              </p:cNvPr>
              <p:cNvGrpSpPr/>
              <p:nvPr/>
            </p:nvGrpSpPr>
            <p:grpSpPr>
              <a:xfrm>
                <a:off x="8912225" y="3898786"/>
                <a:ext cx="1905000" cy="666750"/>
                <a:chOff x="8912225" y="3898786"/>
                <a:chExt cx="1905000" cy="666750"/>
              </a:xfrm>
            </p:grpSpPr>
            <p:sp>
              <p:nvSpPr>
                <p:cNvPr id="85" name="矩形: 圆角 84">
                  <a:extLst>
                    <a:ext uri="{FF2B5EF4-FFF2-40B4-BE49-F238E27FC236}">
                      <a16:creationId xmlns:a16="http://schemas.microsoft.com/office/drawing/2014/main" id="{BAFDA2B9-000D-1D3C-2006-5B4173723B53}"/>
                    </a:ext>
                  </a:extLst>
                </p:cNvPr>
                <p:cNvSpPr/>
                <p:nvPr/>
              </p:nvSpPr>
              <p:spPr>
                <a:xfrm>
                  <a:off x="8912225" y="3898786"/>
                  <a:ext cx="1905000" cy="666750"/>
                </a:xfrm>
                <a:prstGeom prst="roundRect">
                  <a:avLst>
                    <a:gd name="adj" fmla="val 8571"/>
                  </a:avLst>
                </a:prstGeom>
                <a:solidFill>
                  <a:srgbClr val="E8733A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361A8103-21F9-3D98-FBAB-FC5BA46167CB}"/>
                    </a:ext>
                  </a:extLst>
                </p:cNvPr>
                <p:cNvSpPr txBox="1"/>
                <p:nvPr/>
              </p:nvSpPr>
              <p:spPr>
                <a:xfrm>
                  <a:off x="8971897" y="4007670"/>
                  <a:ext cx="1304318" cy="229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75" b="1" spc="0" baseline="0" dirty="0">
                      <a:ln/>
                      <a:solidFill>
                        <a:srgbClr val="FFFFFF"/>
                      </a:solidFill>
                      <a:latin typeface="Arial"/>
                      <a:cs typeface="Arial"/>
                      <a:sym typeface="Arial"/>
                      <a:rtl val="0"/>
                    </a:rPr>
                    <a:t>Optimized Network</a:t>
                  </a:r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9B3DB76-7999-241D-8324-054AE9091C57}"/>
                    </a:ext>
                  </a:extLst>
                </p:cNvPr>
                <p:cNvSpPr txBox="1"/>
                <p:nvPr/>
              </p:nvSpPr>
              <p:spPr>
                <a:xfrm>
                  <a:off x="8971897" y="4225843"/>
                  <a:ext cx="1349822" cy="2191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 dirty="0">
                      <a:ln/>
                      <a:solidFill>
                        <a:srgbClr val="FEF3C7"/>
                      </a:solidFill>
                      <a:latin typeface="Arial"/>
                      <a:cs typeface="Arial"/>
                      <a:sym typeface="Arial"/>
                      <a:rtl val="0"/>
                    </a:rPr>
                    <a:t>Validated by simulation</a:t>
                  </a:r>
                </a:p>
              </p:txBody>
            </p:sp>
          </p:grpSp>
        </p:grpSp>
        <p:grpSp>
          <p:nvGrpSpPr>
            <p:cNvPr id="60" name="图形 2">
              <a:extLst>
                <a:ext uri="{FF2B5EF4-FFF2-40B4-BE49-F238E27FC236}">
                  <a16:creationId xmlns:a16="http://schemas.microsoft.com/office/drawing/2014/main" id="{2151D6C0-883E-CC74-B199-91982E26211C}"/>
                </a:ext>
              </a:extLst>
            </p:cNvPr>
            <p:cNvGrpSpPr/>
            <p:nvPr/>
          </p:nvGrpSpPr>
          <p:grpSpPr>
            <a:xfrm>
              <a:off x="571500" y="2579154"/>
              <a:ext cx="11049000" cy="946982"/>
              <a:chOff x="571500" y="2579154"/>
              <a:chExt cx="11049000" cy="946982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52B690C0-5E25-81A8-1165-1F7D165335D4}"/>
                  </a:ext>
                </a:extLst>
              </p:cNvPr>
              <p:cNvSpPr/>
              <p:nvPr/>
            </p:nvSpPr>
            <p:spPr>
              <a:xfrm>
                <a:off x="571500" y="2579154"/>
                <a:ext cx="11049000" cy="946982"/>
              </a:xfrm>
              <a:prstGeom prst="roundRect">
                <a:avLst>
                  <a:gd name="adj" fmla="val 11428"/>
                </a:avLst>
              </a:prstGeom>
              <a:solidFill>
                <a:srgbClr val="1E3A5F">
                  <a:alpha val="5000"/>
                </a:srgbClr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E78A2A4B-6036-F242-3027-54B90D78C98E}"/>
                  </a:ext>
                </a:extLst>
              </p:cNvPr>
              <p:cNvSpPr txBox="1"/>
              <p:nvPr/>
            </p:nvSpPr>
            <p:spPr>
              <a:xfrm>
                <a:off x="1124039" y="2736299"/>
                <a:ext cx="10289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0" baseline="0" dirty="0">
                    <a:ln/>
                    <a:solidFill>
                      <a:srgbClr val="1E3A5F"/>
                    </a:solidFill>
                    <a:latin typeface="Georgia"/>
                    <a:sym typeface="Georgia"/>
                    <a:rtl val="0"/>
                  </a:rPr>
                  <a:t>A replicable, China-originated governance solution for global megacity UAV planning</a:t>
                </a: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3BB6673-8E05-7A95-CCA3-A9CFEA22F856}"/>
                  </a:ext>
                </a:extLst>
              </p:cNvPr>
              <p:cNvSpPr txBox="1"/>
              <p:nvPr/>
            </p:nvSpPr>
            <p:spPr>
              <a:xfrm>
                <a:off x="3759375" y="3118913"/>
                <a:ext cx="5019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 dirty="0">
                    <a:ln/>
                    <a:solidFill>
                      <a:srgbClr val="64748B"/>
                    </a:solidFill>
                    <a:latin typeface="Arial"/>
                    <a:cs typeface="Arial"/>
                    <a:sym typeface="Arial"/>
                    <a:rtl val="0"/>
                  </a:rPr>
                  <a:t>Standardized and secure low-altitude economic development</a:t>
                </a:r>
              </a:p>
            </p:txBody>
          </p:sp>
        </p:grpSp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1A8A502E-FCFA-D6E6-7FDC-B26684D48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36" y="3756948"/>
            <a:ext cx="8706928" cy="217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8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FA55-4826-8CA6-04BD-F32696C6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41E83C6-6DB9-BC50-6FF3-66C4C89B04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/>
              </a:gs>
              <a:gs pos="50000">
                <a:srgbClr val="162F4F"/>
              </a:gs>
              <a:gs pos="100000">
                <a:srgbClr val="0F2440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284433-FA4B-4148-F82B-5C46C9CC538B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F2440"/>
          </a:solidFill>
          <a:ln w="9525" cap="flat">
            <a:noFill/>
            <a:prstDash val="solid"/>
            <a:miter/>
          </a:ln>
        </p:spPr>
      </p:sp>
      <p:grpSp>
        <p:nvGrpSpPr>
          <p:cNvPr id="7" name="图形 2">
            <a:extLst>
              <a:ext uri="{FF2B5EF4-FFF2-40B4-BE49-F238E27FC236}">
                <a16:creationId xmlns:a16="http://schemas.microsoft.com/office/drawing/2014/main" id="{91FA272E-F5D6-722A-1C59-2892C544A2FF}"/>
              </a:ext>
            </a:extLst>
          </p:cNvPr>
          <p:cNvGrpSpPr/>
          <p:nvPr/>
        </p:nvGrpSpPr>
        <p:grpSpPr>
          <a:xfrm>
            <a:off x="-1377848" y="-597977"/>
            <a:ext cx="14097000" cy="8953500"/>
            <a:chOff x="-1428750" y="-571500"/>
            <a:chExt cx="14097000" cy="8953500"/>
          </a:xfrm>
          <a:solidFill>
            <a:srgbClr val="FFFFFF"/>
          </a:solidFill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C9A9B5B-1FD1-F8E0-214B-DC29A83F87D1}"/>
                </a:ext>
              </a:extLst>
            </p:cNvPr>
            <p:cNvSpPr/>
            <p:nvPr/>
          </p:nvSpPr>
          <p:spPr>
            <a:xfrm>
              <a:off x="-1428750" y="2667000"/>
              <a:ext cx="5715000" cy="5715000"/>
            </a:xfrm>
            <a:prstGeom prst="ellipse">
              <a:avLst/>
            </a:prstGeom>
            <a:solidFill>
              <a:srgbClr val="FFFFFF">
                <a:alpha val="5098"/>
              </a:srgbClr>
            </a:solidFill>
            <a:ln w="9525" cap="flat">
              <a:noFill/>
              <a:prstDash val="solid"/>
              <a:miter/>
            </a:ln>
          </p:spPr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60C76FD-DE53-2BC0-8CEA-50D5C15F871A}"/>
                </a:ext>
              </a:extLst>
            </p:cNvPr>
            <p:cNvSpPr/>
            <p:nvPr/>
          </p:nvSpPr>
          <p:spPr>
            <a:xfrm>
              <a:off x="8858250" y="-571500"/>
              <a:ext cx="3810000" cy="3810000"/>
            </a:xfrm>
            <a:prstGeom prst="ellipse">
              <a:avLst/>
            </a:prstGeom>
            <a:solidFill>
              <a:srgbClr val="FFFFFF">
                <a:alpha val="5098"/>
              </a:srgbClr>
            </a:solidFill>
            <a:ln w="9525" cap="flat">
              <a:noFill/>
              <a:prstDash val="solid"/>
              <a:miter/>
            </a:ln>
          </p:spPr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3169B2C-859B-AFA3-3BED-6C19A7ABFEB8}"/>
              </a:ext>
            </a:extLst>
          </p:cNvPr>
          <p:cNvSpPr/>
          <p:nvPr/>
        </p:nvSpPr>
        <p:spPr>
          <a:xfrm>
            <a:off x="571500" y="1143000"/>
            <a:ext cx="952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733A"/>
              </a:gs>
              <a:gs pos="50000">
                <a:srgbClr val="EE8D52"/>
              </a:gs>
              <a:gs pos="100000">
                <a:srgbClr val="F5A86A"/>
              </a:gs>
            </a:gsLst>
            <a:lin ang="0" scaled="1"/>
          </a:gradFill>
          <a:ln w="9525" cap="flat">
            <a:noFill/>
            <a:prstDash val="solid"/>
            <a:miter/>
          </a:ln>
        </p:spPr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910C7C-D345-6E07-E6EC-33AF2EF2888D}"/>
              </a:ext>
            </a:extLst>
          </p:cNvPr>
          <p:cNvSpPr txBox="1"/>
          <p:nvPr/>
        </p:nvSpPr>
        <p:spPr>
          <a:xfrm>
            <a:off x="480060" y="1387941"/>
            <a:ext cx="1464513" cy="261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300" baseline="0">
                <a:ln/>
                <a:solidFill>
                  <a:srgbClr val="E8733A"/>
                </a:solidFill>
                <a:latin typeface="Arial"/>
                <a:cs typeface="Arial"/>
                <a:sym typeface="Arial"/>
                <a:rtl val="0"/>
              </a:rPr>
              <a:t>CONCLUSION</a:t>
            </a:r>
          </a:p>
        </p:txBody>
      </p:sp>
      <p:grpSp>
        <p:nvGrpSpPr>
          <p:cNvPr id="12" name="图形 2">
            <a:extLst>
              <a:ext uri="{FF2B5EF4-FFF2-40B4-BE49-F238E27FC236}">
                <a16:creationId xmlns:a16="http://schemas.microsoft.com/office/drawing/2014/main" id="{39D7B5B1-DE18-D3D1-A463-0DEF0CC42521}"/>
              </a:ext>
            </a:extLst>
          </p:cNvPr>
          <p:cNvGrpSpPr/>
          <p:nvPr/>
        </p:nvGrpSpPr>
        <p:grpSpPr>
          <a:xfrm>
            <a:off x="571500" y="1996938"/>
            <a:ext cx="5030223" cy="1047694"/>
            <a:chOff x="571500" y="1996938"/>
            <a:chExt cx="5030223" cy="1047694"/>
          </a:xfrm>
          <a:solidFill>
            <a:srgbClr val="FFFFFF"/>
          </a:solidFill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3E6B55A-B989-E8CF-C71E-905464D23E86}"/>
                </a:ext>
              </a:extLst>
            </p:cNvPr>
            <p:cNvSpPr txBox="1"/>
            <p:nvPr/>
          </p:nvSpPr>
          <p:spPr>
            <a:xfrm>
              <a:off x="480060" y="1951218"/>
              <a:ext cx="5213103" cy="56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300" b="1" spc="0" baseline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A Standardized, Secure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4DFCED2-604D-C957-EA11-3E43989842D4}"/>
                </a:ext>
              </a:extLst>
            </p:cNvPr>
            <p:cNvSpPr txBox="1"/>
            <p:nvPr/>
          </p:nvSpPr>
          <p:spPr>
            <a:xfrm>
              <a:off x="480060" y="2522718"/>
              <a:ext cx="5190592" cy="56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300" b="1" spc="0" baseline="0">
                  <a:ln/>
                  <a:solidFill>
                    <a:srgbClr val="FFFFFF"/>
                  </a:solidFill>
                  <a:latin typeface="Georgia"/>
                  <a:sym typeface="Georgia"/>
                  <a:rtl val="0"/>
                </a:rPr>
                <a:t>Low-Altitude Blueprint</a:t>
              </a:r>
            </a:p>
          </p:txBody>
        </p:sp>
      </p:grpSp>
      <p:grpSp>
        <p:nvGrpSpPr>
          <p:cNvPr id="15" name="图形 2">
            <a:extLst>
              <a:ext uri="{FF2B5EF4-FFF2-40B4-BE49-F238E27FC236}">
                <a16:creationId xmlns:a16="http://schemas.microsoft.com/office/drawing/2014/main" id="{F987D15B-8ED0-BEF6-0444-D184E6F45D9B}"/>
              </a:ext>
            </a:extLst>
          </p:cNvPr>
          <p:cNvGrpSpPr/>
          <p:nvPr/>
        </p:nvGrpSpPr>
        <p:grpSpPr>
          <a:xfrm>
            <a:off x="5237510" y="3524954"/>
            <a:ext cx="5336483" cy="1905000"/>
            <a:chOff x="0" y="0"/>
            <a:chExt cx="5336483" cy="1905000"/>
          </a:xfrm>
        </p:grpSpPr>
        <p:grpSp>
          <p:nvGrpSpPr>
            <p:cNvPr id="16" name="图形 2">
              <a:extLst>
                <a:ext uri="{FF2B5EF4-FFF2-40B4-BE49-F238E27FC236}">
                  <a16:creationId xmlns:a16="http://schemas.microsoft.com/office/drawing/2014/main" id="{1E4985CB-5631-EE26-4CFD-150EE63C3119}"/>
                </a:ext>
              </a:extLst>
            </p:cNvPr>
            <p:cNvGrpSpPr/>
            <p:nvPr/>
          </p:nvGrpSpPr>
          <p:grpSpPr>
            <a:xfrm>
              <a:off x="0" y="0"/>
              <a:ext cx="5142969" cy="476250"/>
              <a:chOff x="0" y="0"/>
              <a:chExt cx="5142969" cy="476250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356C65BB-2198-ED0E-8A82-C20D42A3C106}"/>
                  </a:ext>
                </a:extLst>
              </p:cNvPr>
              <p:cNvSpPr/>
              <p:nvPr/>
            </p:nvSpPr>
            <p:spPr>
              <a:xfrm>
                <a:off x="0" y="0"/>
                <a:ext cx="571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D988F0-CEEA-078E-3EF4-3D12C5C40ACD}"/>
                  </a:ext>
                </a:extLst>
              </p:cNvPr>
              <p:cNvSpPr txBox="1"/>
              <p:nvPr/>
            </p:nvSpPr>
            <p:spPr>
              <a:xfrm>
                <a:off x="146685" y="-12234"/>
                <a:ext cx="2059974" cy="261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For Megacities Worldwide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8BFB4B-AE4A-7199-F1C9-05EE323C90F8}"/>
                  </a:ext>
                </a:extLst>
              </p:cNvPr>
              <p:cNvSpPr txBox="1"/>
              <p:nvPr/>
            </p:nvSpPr>
            <p:spPr>
              <a:xfrm>
                <a:off x="146685" y="233611"/>
                <a:ext cx="5087724" cy="240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ln/>
                    <a:solidFill>
                      <a:srgbClr val="94A3B8"/>
                    </a:solidFill>
                    <a:latin typeface="Arial"/>
                    <a:cs typeface="Arial"/>
                    <a:sym typeface="Arial"/>
                    <a:rtl val="0"/>
                  </a:rPr>
                  <a:t>A replicable, China-originated governance solution for global UAV network planning</a:t>
                </a:r>
              </a:p>
            </p:txBody>
          </p:sp>
        </p:grpSp>
        <p:grpSp>
          <p:nvGrpSpPr>
            <p:cNvPr id="20" name="图形 2">
              <a:extLst>
                <a:ext uri="{FF2B5EF4-FFF2-40B4-BE49-F238E27FC236}">
                  <a16:creationId xmlns:a16="http://schemas.microsoft.com/office/drawing/2014/main" id="{B6A7BE0E-1CCD-BF7E-143D-D9EDB3EA9ED8}"/>
                </a:ext>
              </a:extLst>
            </p:cNvPr>
            <p:cNvGrpSpPr/>
            <p:nvPr/>
          </p:nvGrpSpPr>
          <p:grpSpPr>
            <a:xfrm>
              <a:off x="0" y="714375"/>
              <a:ext cx="5336483" cy="476250"/>
              <a:chOff x="0" y="714375"/>
              <a:chExt cx="5336483" cy="476250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2761987-BFF4-D84C-EE77-6A03E6986D21}"/>
                  </a:ext>
                </a:extLst>
              </p:cNvPr>
              <p:cNvSpPr/>
              <p:nvPr/>
            </p:nvSpPr>
            <p:spPr>
              <a:xfrm>
                <a:off x="0" y="714375"/>
                <a:ext cx="571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4E3D71F-A37B-83D7-E284-7CCC568483D3}"/>
                  </a:ext>
                </a:extLst>
              </p:cNvPr>
              <p:cNvSpPr txBox="1"/>
              <p:nvPr/>
            </p:nvSpPr>
            <p:spPr>
              <a:xfrm>
                <a:off x="146685" y="702141"/>
                <a:ext cx="2108046" cy="261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Strategic Policy Alignment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CC039C6-C4D3-67FD-A2F8-44F32A4737AF}"/>
                  </a:ext>
                </a:extLst>
              </p:cNvPr>
              <p:cNvSpPr txBox="1"/>
              <p:nvPr/>
            </p:nvSpPr>
            <p:spPr>
              <a:xfrm>
                <a:off x="146685" y="947986"/>
                <a:ext cx="5281238" cy="240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ln/>
                    <a:solidFill>
                      <a:srgbClr val="94A3B8"/>
                    </a:solidFill>
                    <a:latin typeface="Arial"/>
                    <a:cs typeface="Arial"/>
                    <a:sym typeface="Arial"/>
                    <a:rtl val="0"/>
                  </a:rPr>
                  <a:t>Supporting China's 15th Five-Year Plan and global low-altitude economic development</a:t>
                </a:r>
              </a:p>
            </p:txBody>
          </p:sp>
        </p:grpSp>
        <p:grpSp>
          <p:nvGrpSpPr>
            <p:cNvPr id="24" name="图形 2">
              <a:extLst>
                <a:ext uri="{FF2B5EF4-FFF2-40B4-BE49-F238E27FC236}">
                  <a16:creationId xmlns:a16="http://schemas.microsoft.com/office/drawing/2014/main" id="{1F97B3A4-B32D-4C6D-9593-E8008656A5FC}"/>
                </a:ext>
              </a:extLst>
            </p:cNvPr>
            <p:cNvGrpSpPr/>
            <p:nvPr/>
          </p:nvGrpSpPr>
          <p:grpSpPr>
            <a:xfrm>
              <a:off x="0" y="1428750"/>
              <a:ext cx="5274496" cy="476250"/>
              <a:chOff x="0" y="1428750"/>
              <a:chExt cx="5274496" cy="476250"/>
            </a:xfrm>
          </p:grpSpPr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10F968B6-75DA-D6C4-66E4-98F406144D68}"/>
                  </a:ext>
                </a:extLst>
              </p:cNvPr>
              <p:cNvSpPr/>
              <p:nvPr/>
            </p:nvSpPr>
            <p:spPr>
              <a:xfrm>
                <a:off x="0" y="1428750"/>
                <a:ext cx="571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E8733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00F92F0-01E2-FD97-F2FB-D39400248817}"/>
                  </a:ext>
                </a:extLst>
              </p:cNvPr>
              <p:cNvSpPr txBox="1"/>
              <p:nvPr/>
            </p:nvSpPr>
            <p:spPr>
              <a:xfrm>
                <a:off x="146685" y="1416516"/>
                <a:ext cx="1631498" cy="261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Practical &amp; Scalable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313C4C7-1C4A-1A93-ABC8-958D80C6FD20}"/>
                  </a:ext>
                </a:extLst>
              </p:cNvPr>
              <p:cNvSpPr txBox="1"/>
              <p:nvPr/>
            </p:nvSpPr>
            <p:spPr>
              <a:xfrm>
                <a:off x="146685" y="1662361"/>
                <a:ext cx="5219251" cy="240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ln/>
                    <a:solidFill>
                      <a:srgbClr val="94A3B8"/>
                    </a:solidFill>
                    <a:latin typeface="Arial"/>
                    <a:cs typeface="Arial"/>
                    <a:sym typeface="Arial"/>
                    <a:rtl val="0"/>
                  </a:rPr>
                  <a:t>Validated through real-world data from Yangpu District, Shanghai's central urban area</a:t>
                </a:r>
              </a:p>
            </p:txBody>
          </p:sp>
        </p:grpSp>
      </p:grpSp>
      <p:grpSp>
        <p:nvGrpSpPr>
          <p:cNvPr id="28" name="图形 2">
            <a:extLst>
              <a:ext uri="{FF2B5EF4-FFF2-40B4-BE49-F238E27FC236}">
                <a16:creationId xmlns:a16="http://schemas.microsoft.com/office/drawing/2014/main" id="{0DA79445-9375-E566-466D-BD6A7C7B79C2}"/>
              </a:ext>
            </a:extLst>
          </p:cNvPr>
          <p:cNvGrpSpPr/>
          <p:nvPr/>
        </p:nvGrpSpPr>
        <p:grpSpPr>
          <a:xfrm>
            <a:off x="480060" y="6386761"/>
            <a:ext cx="10660379" cy="253916"/>
            <a:chOff x="480060" y="6386761"/>
            <a:chExt cx="10660379" cy="253916"/>
          </a:xfrm>
          <a:solidFill>
            <a:srgbClr val="64748B"/>
          </a:solidFill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898C90E-8304-68B3-7A55-F1A839B8BC62}"/>
                </a:ext>
              </a:extLst>
            </p:cNvPr>
            <p:cNvSpPr txBox="1"/>
            <p:nvPr/>
          </p:nvSpPr>
          <p:spPr>
            <a:xfrm>
              <a:off x="480060" y="6386761"/>
              <a:ext cx="21259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 dirty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rPr>
                <a:t>Optimized UAV Service Network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C6680D4-480C-9F3D-13B9-36156D12A788}"/>
                </a:ext>
              </a:extLst>
            </p:cNvPr>
            <p:cNvSpPr txBox="1"/>
            <p:nvPr/>
          </p:nvSpPr>
          <p:spPr>
            <a:xfrm>
              <a:off x="10334891" y="6386761"/>
              <a:ext cx="805548" cy="240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ln/>
                  <a:solidFill>
                    <a:srgbClr val="64748B"/>
                  </a:solidFill>
                  <a:latin typeface="Arial"/>
                  <a:cs typeface="Arial"/>
                  <a:sym typeface="Arial"/>
                  <a:rtl val="0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769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3149</Words>
  <Application>Microsoft Office PowerPoint</Application>
  <PresentationFormat>宽屏</PresentationFormat>
  <Paragraphs>148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Arial</vt:lpstr>
      <vt:lpstr>Calibri</vt:lpstr>
      <vt:lpstr>Cambria Math</vt:lpstr>
      <vt:lpstr>Georgia</vt:lpstr>
      <vt:lpstr>Segoe UI 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cao</dc:creator>
  <cp:lastModifiedBy>xy cao</cp:lastModifiedBy>
  <cp:revision>3</cp:revision>
  <cp:lastPrinted>2026-07-31T09:28:27Z</cp:lastPrinted>
  <dcterms:created xsi:type="dcterms:W3CDTF">2026-07-31T03:39:22Z</dcterms:created>
  <dcterms:modified xsi:type="dcterms:W3CDTF">2026-07-31T14:52:02Z</dcterms:modified>
</cp:coreProperties>
</file>